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46"/>
          </a:solidFill>
          <a:ln>
            <a:solidFill>
              <a:srgbClr val="00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40080"/>
            <a:ext cx="2493927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Arial"/>
              </a:defRPr>
            </a:pPr>
            <a:r>
              <a:t>BIRMINGHAM CITY UNIVERSITY  |  FACULTY OF COMPUTING, ENGINEERING AND THE BUILT ENVIRONMENT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Arial"/>
              </a:defRPr>
            </a:pPr>
            <a:r>
              <a:t>CMP6200 / DIG6200: Individual Undergraduate Project (FYP) Final Project Dissertation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Clariq: An AI-Powered Socratic Science Tutor</a:t>
            </a:r>
          </a:p>
          <a:p>
            <a:pPr>
              <a:spcBef>
                <a:spcPts val="600"/>
              </a:spcBef>
              <a:defRPr sz="2200" b="1">
                <a:solidFill>
                  <a:srgbClr val="E0F2FE"/>
                </a:solidFill>
                <a:latin typeface="Arial"/>
              </a:defRPr>
            </a:pPr>
            <a:r>
              <a:t>with Adaptive Knowledge Tracking for SEE Students (Class 10, Nepal)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10362895" cy="1828800"/>
          </a:xfrm>
          <a:prstGeom prst="roundRect">
            <a:avLst/>
          </a:prstGeom>
          <a:solidFill>
            <a:srgbClr val="0B192C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389120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STUDENT CANDIDATE</a:t>
            </a:r>
          </a:p>
          <a:p>
            <a:pPr>
              <a:spcBef>
                <a:spcPts val="3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Shekhar Lamichhane Magar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Student ID: 23189647  •  BSc (Hons) Computer and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0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ACADEMIC SUPERVISOR &amp; ASSESSMENT</a:t>
            </a:r>
          </a:p>
          <a:p>
            <a:pPr>
              <a:spcBef>
                <a:spcPts val="300"/>
              </a:spcBef>
              <a:defRPr sz="1700" b="1">
                <a:solidFill>
                  <a:srgbClr val="FFFFFF"/>
                </a:solidFill>
                <a:latin typeface="Arial"/>
              </a:defRPr>
            </a:pPr>
            <a:r>
              <a:t>Rupak Koirala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Arial"/>
              </a:defRPr>
            </a:pPr>
            <a:r>
              <a:t>Department of Computer and Data Science  •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EXECUTIVE SUMMARY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National Educational Context: The Class 10 SEE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Severe national pass rate deficits and socio-economic tuition barriers drive the urgent need for scalable AI inquiry.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2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4592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EA580C"/>
                </a:solidFill>
                <a:latin typeface="Arial"/>
              </a:defRPr>
            </a:pPr>
            <a:r>
              <a:t>79,271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Non-Graded in SEE Science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15.42% failed in 2080-81 (highest deficit subject)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470" y="15544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9198" y="164592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88%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Answer Leakage in LLMs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Commercial ChatGPT-4o immediately gives away answers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335" y="15544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063" y="164592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rial"/>
              </a:defRPr>
            </a:pPr>
            <a:r>
              <a:t>135 Nodes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SEE Knowledge Graph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Curriculum-grounded tracking across Physics, Chem &amp; Bio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2120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8036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Educational &amp; Socio-Economic Crisis in Nepal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The High-Stakes Gateway: </a:t>
            </a:r>
            <a:r>
              <a:rPr b="0" sz="1100">
                <a:solidFill>
                  <a:srgbClr val="334155"/>
                </a:solidFill>
                <a:latin typeface="Arial"/>
              </a:rPr>
              <a:t>The Secondary Education Examination (SEE, Class 10) dictates students' eligibility for higher secondary science, engineering, and medical streams.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Disproportionate Failure: </a:t>
            </a:r>
            <a:r>
              <a:rPr b="0" sz="1100">
                <a:solidFill>
                  <a:srgbClr val="334155"/>
                </a:solidFill>
                <a:latin typeface="Arial"/>
              </a:rPr>
              <a:t>In the 2080-81 national exams, 79,271 students (15.42%) were marked Non-Graded (NG) in Science &amp; Technology, reflecting severe instructional gaps.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Unaffordable Private Tuition: </a:t>
            </a:r>
            <a:r>
              <a:rPr b="0" sz="1100">
                <a:solidFill>
                  <a:srgbClr val="334155"/>
                </a:solidFill>
                <a:latin typeface="Arial"/>
              </a:rPr>
              <a:t>Commercial coaching centers charge NPR 2,000–5,000/month ($15–$40), which is economically prohibitive for underprivileged and rural households.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Under-Resourced Community Schools: </a:t>
            </a:r>
            <a:r>
              <a:rPr b="0" sz="1100">
                <a:solidFill>
                  <a:srgbClr val="334155"/>
                </a:solidFill>
                <a:latin typeface="Arial"/>
              </a:rPr>
              <a:t>Public community schools face 50+:1 pupil-teacher ratios, making personalized inquiry and 1-on-1 scaffolding practically impossible.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2880360"/>
            <a:ext cx="52120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288036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Digital Pitfall: Static Books vs. Didactic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975" y="33832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Static Textbooks (Passive): </a:t>
            </a:r>
            <a:r>
              <a:rPr b="0" sz="1100">
                <a:solidFill>
                  <a:srgbClr val="334155"/>
                </a:solidFill>
                <a:latin typeface="Arial"/>
              </a:rPr>
              <a:t>Approved CDC textbooks provide factual curriculum material but cannot answer contextual questions or dynamically diagnose student misconceptions.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Commercial Chatbots (Cognitive Crutch): </a:t>
            </a:r>
            <a:r>
              <a:rPr b="0" sz="1100">
                <a:solidFill>
                  <a:srgbClr val="334155"/>
                </a:solidFill>
                <a:latin typeface="Arial"/>
              </a:rPr>
              <a:t>Generic LLMs (ChatGPT, Claude) act as didactic answer dispensers—88% of queries result in immediate answer dumps, short-circuiting critical thinking.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Hallucination &amp; Syllabus Drift: </a:t>
            </a:r>
            <a:r>
              <a:rPr b="0" sz="1100">
                <a:solidFill>
                  <a:srgbClr val="334155"/>
                </a:solidFill>
                <a:latin typeface="Arial"/>
              </a:rPr>
              <a:t>Off-the-shelf LLMs frequently drift outside national exam syllabi and hallucinate facts unsupported by official CDC textbooks.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The Clariq Intervention: </a:t>
            </a:r>
            <a:r>
              <a:rPr b="0" sz="1100">
                <a:solidFill>
                  <a:srgbClr val="334155"/>
                </a:solidFill>
                <a:latin typeface="Arial"/>
              </a:rPr>
              <a:t>An open-weight, curriculum-grounded Socratic tutor enforcing strict pedagogical turn policies (0% answer dumps) with continuous 135-node mastery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RESEARCH FOUNDATIONS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Research Questions &amp; Theoretical Pedagogical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Investigating whether generative AI can uphold pedagogical restraint and deliver reliable formative mastery telemetry.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3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Formal Research Questions (RQs)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057400"/>
            <a:ext cx="475488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4480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RESEARCH QUESTION 1 (Dialogue Discipline)</a:t>
            </a:r>
          </a:p>
          <a:p>
            <a:pPr>
              <a:spcBef>
                <a:spcPts val="4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Can an open-weight conversational LLM, constrained by pedagogical turn policies and textbook RAG, sustain multi-turn Socratic inquiry without leaking direct answers on SEE Class 10 science queries?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023360"/>
            <a:ext cx="47548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114800"/>
            <a:ext cx="44805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A34A"/>
                </a:solidFill>
                <a:latin typeface="Arial"/>
              </a:defRPr>
            </a:pPr>
            <a:r>
              <a:t>RESEARCH QUESTION 2 (Mastery Telemetry)</a:t>
            </a:r>
          </a:p>
          <a:p>
            <a:pPr>
              <a:spcBef>
                <a:spcPts val="400"/>
              </a:spcBef>
              <a:defRPr sz="1150" b="1">
                <a:solidFill>
                  <a:srgbClr val="003366"/>
                </a:solidFill>
                <a:latin typeface="Arial"/>
              </a:defRPr>
            </a:pPr>
            <a:r>
              <a:t>Can student multi-turn conversational responses provide reliable concept-level mastery signals across an adaptive 135-node knowledge graph to surface actionable confusion alerts for secondary school science educators?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Theoretical Pedagogical Frameworks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103120"/>
            <a:ext cx="48463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Bloom's 2-Sigma Problem (Bloom, 1984): </a:t>
            </a:r>
            <a:r>
              <a:rPr b="0" sz="1100">
                <a:solidFill>
                  <a:srgbClr val="334155"/>
                </a:solidFill>
                <a:latin typeface="Arial"/>
              </a:rPr>
              <a:t>1-on-1 human tutoring produces 2 standard deviations (+2σ) improvement over traditional classroom instruction. Clariq aims to scale this cognitive scaffolding affordably.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Vygotsky's Zone of Proximal Development (ZPD): </a:t>
            </a:r>
            <a:r>
              <a:rPr b="0" sz="1100">
                <a:solidFill>
                  <a:srgbClr val="334155"/>
                </a:solidFill>
                <a:latin typeface="Arial"/>
              </a:rPr>
              <a:t>Cognitive growth occurs when learners are guided just beyond their independent capacity. Socratic dialogue provides calibrated hints to bridge this gap.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AI as Cognitive Crutch (Bastani et al., 2025): </a:t>
            </a:r>
            <a:r>
              <a:rPr b="0" sz="1100">
                <a:solidFill>
                  <a:srgbClr val="334155"/>
                </a:solidFill>
                <a:latin typeface="Arial"/>
              </a:rPr>
              <a:t>Recent empirical findings show that unconstrained AI tutors providing direct answers degrade independent problem-solving skills; Socratic restraint forces active schema building.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03366"/>
                </a:solidFill>
                <a:latin typeface="Arial"/>
              </a:rPr>
              <a:t>•  Formative Telemetry vs. Summative Stress: </a:t>
            </a:r>
            <a:r>
              <a:rPr b="0" sz="1100">
                <a:solidFill>
                  <a:srgbClr val="334155"/>
                </a:solidFill>
                <a:latin typeface="Arial"/>
              </a:rPr>
              <a:t>Replacing high-stakes end-of-year exams with continuous concept tracking enables timely diagnostic intervention before students fall into the 'Non-Graded'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PROJECT SCOPE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Project Aims, Operational Boundaries &amp; Delimitations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Clear demarcations between delivered engineering capabilities and explicit dissertation research delimitations.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4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10515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  <a:latin typeface="Arial"/>
              </a:defRPr>
            </a:pPr>
            <a:r>
              <a:t>PRIMARY PROJECT AIM</a:t>
            </a:r>
          </a:p>
          <a:p>
            <a:pPr>
              <a:spcBef>
                <a:spcPts val="200"/>
              </a:spcBef>
              <a:defRPr sz="1100" i="1">
                <a:solidFill>
                  <a:srgbClr val="0F172A"/>
                </a:solidFill>
                <a:latin typeface="Arial"/>
              </a:defRPr>
            </a:pPr>
            <a:r>
              <a:t>"To design, implement, and empirically pilot Clariq—an AI-powered Socratic science tutor delivering curriculum-grounded dialogue for Nepal's Class 10 SEE; dynamically tracking individual concept understanding across an adaptive 135-node Knowledge Graph; generating actionable diagnostic summaries; and evaluating its pedagogical feasibility and usability against textbook self-study."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52120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78892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Delivered In-Scope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Curriculum Grounding: </a:t>
            </a:r>
            <a:r>
              <a:rPr b="0" sz="1050">
                <a:solidFill>
                  <a:srgbClr val="334155"/>
                </a:solidFill>
                <a:latin typeface="Arial"/>
              </a:rPr>
              <a:t>Complete SEE Class 10 Physics (45 nodes), Chemistry (50 nodes), and Biology (40 nodes) mapped from official CDC Nepal textbooks.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Socratic Dialogue Model: </a:t>
            </a:r>
            <a:r>
              <a:rPr b="0" sz="1050">
                <a:solidFill>
                  <a:srgbClr val="334155"/>
                </a:solidFill>
                <a:latin typeface="Arial"/>
              </a:rPr>
              <a:t>Fine-tuned Qwen2.5-7B Merged SFT deployed on RunPod Serverless vLLM with multi-tier fallback and regex question-mark gating.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Formative Knowledge Graph: </a:t>
            </a:r>
            <a:r>
              <a:rPr b="0" sz="1050">
                <a:solidFill>
                  <a:srgbClr val="334155"/>
                </a:solidFill>
                <a:latin typeface="Arial"/>
              </a:rPr>
              <a:t>135 concept nodes interconnected by 99 prerequisite dependencies with EWMA mastery updating (α = 0.25).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Dual Client Ecosystem: </a:t>
            </a:r>
            <a:r>
              <a:rPr b="0" sz="1050">
                <a:solidFill>
                  <a:srgbClr val="334155"/>
                </a:solidFill>
                <a:latin typeface="Arial"/>
              </a:rPr>
              <a:t>Interactive React 18 / Vite web application (Nebular Lab UI, teacher diagnostic desk) and cross-platform Expo mobile app.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Empirical Evaluation: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Controlled between-subjects pilot user study (N=20 Class 10 students) evaluating comprehension, latency, and usability.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2788920"/>
            <a:ext cx="521208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8095" y="2788920"/>
            <a:ext cx="5212080" cy="347472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Explicit Delimitations &amp; Out of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0975" y="3291840"/>
            <a:ext cx="4846320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Excluded Curricula: </a:t>
            </a:r>
            <a:r>
              <a:rPr b="0" sz="1050">
                <a:solidFill>
                  <a:srgbClr val="334155"/>
                </a:solidFill>
                <a:latin typeface="Arial"/>
              </a:rPr>
              <a:t>Class 1–9 foundational or Class 11–12 advanced science; Geology and Astronomy units excluded from the formal 135-node KG.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Interaction Modality: </a:t>
            </a:r>
            <a:r>
              <a:rPr b="0" sz="1050">
                <a:solidFill>
                  <a:srgbClr val="334155"/>
                </a:solidFill>
                <a:latin typeface="Arial"/>
              </a:rPr>
              <a:t>Asynchronous typed text dialogue only; speech recognition, voice synthesis, and live classroom video conferencing are out of scope.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Language Medium: </a:t>
            </a:r>
            <a:r>
              <a:rPr b="0" sz="1050">
                <a:solidFill>
                  <a:srgbClr val="334155"/>
                </a:solidFill>
                <a:latin typeface="Arial"/>
              </a:rPr>
              <a:t>English-medium instruction and scientific nomenclature; Devanagari script, Nepali vernacular, and automated machine translation excluded.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Assessment Scope: </a:t>
            </a:r>
            <a:r>
              <a:rPr b="0" sz="1050">
                <a:solidFill>
                  <a:srgbClr val="334155"/>
                </a:solidFill>
                <a:latin typeface="Arial"/>
              </a:rPr>
              <a:t>Formative concept-level mastery telemetry only; official summative examination grading or high-stakes certification excluded.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Enterprise Integration: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Standalone web/mobile architecture; direct integration with school ERP or MoEST national databases was not attempted.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LITERATURE REVIEW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Theoretical Foundations &amp; Critical Review of Prior 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Synthesizing Intelligent Tutoring Systems, Retrieval-Augmented Generation, and Knowledge Tracing models.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5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Intelligent Tutoring Systems (ITS)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Classical Rule-Based Systems: </a:t>
            </a:r>
            <a:r>
              <a:rPr b="0" sz="1050">
                <a:solidFill>
                  <a:srgbClr val="334155"/>
                </a:solidFill>
                <a:latin typeface="Arial"/>
              </a:rPr>
              <a:t>AutoTutor and Andes demonstrated the efficacy of conversational tutoring but relied on rigid production rules and brittle finite-state scripts.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Generative LLM Revolution: </a:t>
            </a:r>
            <a:r>
              <a:rPr b="0" sz="1050">
                <a:solidFill>
                  <a:srgbClr val="334155"/>
                </a:solidFill>
                <a:latin typeface="Arial"/>
              </a:rPr>
              <a:t>Recent LLMs offer conversational fluidity but routinely suffer from factual hallucinations, unconstrained topic drift, and direct answer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Retrieval-Augmented Generation (RAG)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0116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Factual Hallucination Suppression: </a:t>
            </a:r>
            <a:r>
              <a:rPr b="0" sz="1050">
                <a:solidFill>
                  <a:srgbClr val="334155"/>
                </a:solidFill>
                <a:latin typeface="Arial"/>
              </a:rPr>
              <a:t>Anchoring conversational models to verified national textbooks ensures domain compliance and syllabus fidelity (Lewis et al., 2020).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Lexical Challenges in Science: </a:t>
            </a:r>
            <a:r>
              <a:rPr b="0" sz="1050">
                <a:solidFill>
                  <a:srgbClr val="334155"/>
                </a:solidFill>
                <a:latin typeface="Arial"/>
              </a:rPr>
              <a:t>Standard semantic vector search struggles with domain-specific science terms; requires hybrid retrieval with lexical candidate reranking.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Student Modeling &amp; Knowledge 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BKT &amp; DKT Constraints: </a:t>
            </a:r>
            <a:r>
              <a:rPr b="0" sz="1050">
                <a:solidFill>
                  <a:srgbClr val="334155"/>
                </a:solidFill>
                <a:latin typeface="Arial"/>
              </a:rPr>
              <a:t>Bayesian Knowledge Tracing (Corbett &amp; Anderson) and Deep Knowledge Tracing (Piech et al.) demand massive longitudinal datasets unavailable in Nepal.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Pragmatic EWMA Telemetry: </a:t>
            </a:r>
            <a:r>
              <a:rPr b="0" sz="1050">
                <a:solidFill>
                  <a:srgbClr val="334155"/>
                </a:solidFill>
                <a:latin typeface="Arial"/>
              </a:rPr>
              <a:t>A 135-node directed graph with Exponentially Weighted Moving Average (EWMA) tracking delivers instant, zero-cold-start mastery updates at low latency.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977639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3977639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Identified Gaps Addressed by Clariq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975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Developing Nation Curriculum Gap: </a:t>
            </a:r>
            <a:r>
              <a:rPr b="0" sz="1050">
                <a:solidFill>
                  <a:srgbClr val="334155"/>
                </a:solidFill>
                <a:latin typeface="Arial"/>
              </a:rPr>
              <a:t>Near-zero existing AI tutoring literature focuses on Nepal's CDC national examination syllabus or localized secondary science challenges.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Open-Weight Socratic Discipline: </a:t>
            </a:r>
            <a:r>
              <a:rPr b="0" sz="1050">
                <a:solidFill>
                  <a:srgbClr val="334155"/>
                </a:solidFill>
                <a:latin typeface="Arial"/>
              </a:rPr>
              <a:t>Absence of open-weight fine-tuned models specifically optimized to enforce strict Socratic counter-questioning rather than direct answer generation.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FORMAL OBJECTIVES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Five Measurable Objectives &amp; Quantitative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Translating pedagogical aims into verifiable engineering deliverables and empirical research thresholds.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6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109728" cy="84124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27632"/>
            <a:ext cx="1033272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3366"/>
                </a:solidFill>
                <a:latin typeface="Arial"/>
              </a:defRPr>
            </a:pPr>
            <a:r>
              <a:t>Objective 1: Curriculum Dataset &amp; RAG Pipeline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Structure, clean, and index official CDC Nepal Class 10 Science textbooks into a persistent Chroma vector store with lexical candidate reranking.  </a:t>
            </a:r>
            <a:r>
              <a:rPr sz="950" b="1">
                <a:solidFill>
                  <a:srgbClr val="0F172A"/>
                </a:solidFill>
                <a:latin typeface="Arial"/>
              </a:rPr>
              <a:t>Target: Precision@3 &gt;= 0.85 across 100 test queries (300 blinded relevance judgments).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8716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109728" cy="84124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1033272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3366"/>
                </a:solidFill>
                <a:latin typeface="Arial"/>
              </a:defRPr>
            </a:pPr>
            <a:r>
              <a:t>Objective 2: Socratic Dialogue Model &amp; Turn Discipline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Fine-tune open-weight Socratic dialogue models (progressing from 4B LoRA prototype to 7B Merged SFT) under strict turn policies.  </a:t>
            </a:r>
            <a:r>
              <a:rPr sz="950" b="1">
                <a:solidFill>
                  <a:srgbClr val="0F172A"/>
                </a:solidFill>
                <a:latin typeface="Arial"/>
              </a:rPr>
              <a:t>Target: Direct answer dump rate &lt;= 5%; 0 script collapse flags; &gt;= 90% guiding question adherence.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1985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419856"/>
            <a:ext cx="109728" cy="84124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493008"/>
            <a:ext cx="1033272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3366"/>
                </a:solidFill>
                <a:latin typeface="Arial"/>
              </a:defRPr>
            </a:pPr>
            <a:r>
              <a:t>Objective 3: System Integration, Orchestration &amp; Latency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Implement an asynchronous FastAPI backend orchestrating vector search, hosted LLM inference, JWT auth, and session persistence.  </a:t>
            </a:r>
            <a:r>
              <a:rPr sz="950" b="1">
                <a:solidFill>
                  <a:srgbClr val="0F172A"/>
                </a:solidFill>
                <a:latin typeface="Arial"/>
              </a:rPr>
              <a:t>Target: Median operational response latency &lt;= 5.0 seconds under warm sequential interactive usage.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52544"/>
            <a:ext cx="109728" cy="84124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25696"/>
            <a:ext cx="1033272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03366"/>
                </a:solidFill>
                <a:latin typeface="Arial"/>
              </a:defRPr>
            </a:pPr>
            <a:r>
              <a:t>Objective 4: Adaptive Knowledge Graph &amp; Telemetry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Construct a 135-node directed knowledge graph across Physics, Chemistry, Biology; implement EWMA mastery smoothing and teacher reports.  </a:t>
            </a:r>
            <a:r>
              <a:rPr sz="950" b="1">
                <a:solidFill>
                  <a:srgbClr val="0F172A"/>
                </a:solidFill>
                <a:latin typeface="Arial"/>
              </a:rPr>
              <a:t>Target: Functional 135-node graph; automated confusion flag triggered after 3 low-scoring turns.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8523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285232"/>
            <a:ext cx="109728" cy="8412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58384"/>
            <a:ext cx="10332720" cy="694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6A34A"/>
                </a:solidFill>
                <a:latin typeface="Arial"/>
              </a:defRPr>
            </a:pPr>
            <a:r>
              <a:t>Objective 5: Controlled Empirical Pilot User Study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34155"/>
                </a:solidFill>
                <a:latin typeface="Arial"/>
              </a:rPr>
              <a:t>Conduct a between-subjects pilot study (N=20 Class 10 SEE students) comparing Clariq Socratic AI tutoring against textbook self-study.  </a:t>
            </a:r>
            <a:r>
              <a:rPr sz="950" b="1">
                <a:solidFill>
                  <a:srgbClr val="0F172A"/>
                </a:solidFill>
                <a:latin typeface="Arial"/>
              </a:rPr>
              <a:t>Target: Measurable comprehension gains; &gt;= 30% reduction in active study time; SUS score &gt;= 70.0.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DESIGN METHODOLOGY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Design Science Research Framework &amp; Architectural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Iterative design cycles and justified engineering transitions from interim proposal to delivered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7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493776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493776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Design Science Research (Peffers et al., 2007)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1. Problem Identification: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15.42% national SEE science failure rate; commercial AI acts as an unearned answer dispenser.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2. Objective Definition: </a:t>
            </a:r>
            <a:r>
              <a:rPr b="0" sz="1050">
                <a:solidFill>
                  <a:srgbClr val="334155"/>
                </a:solidFill>
                <a:latin typeface="Arial"/>
              </a:rPr>
              <a:t>Formulated 5 quantitative engineering benchmarks across retrieval, dialogue restraint, latency, and learning.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3. Design &amp; Development: </a:t>
            </a:r>
            <a:r>
              <a:rPr b="0" sz="1050">
                <a:solidFill>
                  <a:srgbClr val="334155"/>
                </a:solidFill>
                <a:latin typeface="Arial"/>
              </a:rPr>
              <a:t>Constructed 6-layer architecture, fine-tuned Qwen2.5-7B Merged SFT, and developed 135-node directed knowledge graph.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4. Demonstration: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Deployed interactive React 18 web laboratory and cross-platform Expo mobile app for student tutoring.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5. Evaluation: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100-query RAG precision test, 100-item smoke test, latency profiling, and N=20 controlled pilot user study.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6. Communication: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Comprehensive 6,600-word dissertation, reproducible open-source code, and academic defense.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54480"/>
            <a:ext cx="5562295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554480"/>
            <a:ext cx="5562295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Architectural Evolution: Interim vs.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5285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05740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03366"/>
                </a:solidFill>
                <a:latin typeface="Arial"/>
              </a:rPr>
              <a:t>Vector Storage: </a:t>
            </a:r>
            <a:r>
              <a:rPr b="1" sz="950">
                <a:solidFill>
                  <a:srgbClr val="0F172A"/>
                </a:solidFill>
                <a:latin typeface="Arial"/>
              </a:rPr>
              <a:t>Chroma DB (embedded) </a:t>
            </a:r>
            <a:r>
              <a:rPr i="1" sz="900">
                <a:solidFill>
                  <a:srgbClr val="64748B"/>
                </a:solidFill>
                <a:latin typeface="Arial"/>
              </a:rPr>
              <a:t>(was: PostgreSQL / pgvector)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Rationale: Eliminated external daemon overhead; simplified local &amp; cloud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688336"/>
            <a:ext cx="5285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734056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03366"/>
                </a:solidFill>
                <a:latin typeface="Arial"/>
              </a:rPr>
              <a:t>Embeddings: </a:t>
            </a:r>
            <a:r>
              <a:rPr b="1" sz="950">
                <a:solidFill>
                  <a:srgbClr val="0F172A"/>
                </a:solidFill>
                <a:latin typeface="Arial"/>
              </a:rPr>
              <a:t>nomic-embed-text (768d) </a:t>
            </a:r>
            <a:r>
              <a:rPr i="1" sz="900">
                <a:solidFill>
                  <a:srgbClr val="64748B"/>
                </a:solidFill>
                <a:latin typeface="Arial"/>
              </a:rPr>
              <a:t>(was: all-MiniLM-L6-v2 (384d))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Rationale: Higher semantic density for science texts; local execution without API dependency.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364992"/>
            <a:ext cx="5285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410712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03366"/>
                </a:solidFill>
                <a:latin typeface="Arial"/>
              </a:rPr>
              <a:t>Retrieval: </a:t>
            </a:r>
            <a:r>
              <a:rPr b="1" sz="950">
                <a:solidFill>
                  <a:srgbClr val="0F172A"/>
                </a:solidFill>
                <a:latin typeface="Arial"/>
              </a:rPr>
              <a:t>Hybrid + Lexical Reranker </a:t>
            </a:r>
            <a:r>
              <a:rPr i="1" sz="900">
                <a:solidFill>
                  <a:srgbClr val="64748B"/>
                </a:solidFill>
                <a:latin typeface="Arial"/>
              </a:rPr>
              <a:t>(was: Cosine similarity)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Rationale: Vector-only search suffered low precision; reranking boosted P@3 to 0.873.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041648"/>
            <a:ext cx="5285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087368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03366"/>
                </a:solidFill>
                <a:latin typeface="Arial"/>
              </a:rPr>
              <a:t>Tutor LLM: </a:t>
            </a:r>
            <a:r>
              <a:rPr b="1" sz="950">
                <a:solidFill>
                  <a:srgbClr val="0F172A"/>
                </a:solidFill>
                <a:latin typeface="Arial"/>
              </a:rPr>
              <a:t>Qwen2.5-7B Merged SFT </a:t>
            </a:r>
            <a:r>
              <a:rPr i="1" sz="900">
                <a:solidFill>
                  <a:srgbClr val="64748B"/>
                </a:solidFill>
                <a:latin typeface="Arial"/>
              </a:rPr>
              <a:t>(was: LLaMA-3-8B LoRA)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Rationale: Raw 8B caused OOM; fine-tuning 7B on dual T4s eliminated script collapse.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718304"/>
            <a:ext cx="5285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4764024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03366"/>
                </a:solidFill>
                <a:latin typeface="Arial"/>
              </a:rPr>
              <a:t>Constraint Engine: </a:t>
            </a:r>
            <a:r>
              <a:rPr b="1" sz="950">
                <a:solidFill>
                  <a:srgbClr val="0F172A"/>
                </a:solidFill>
                <a:latin typeface="Arial"/>
              </a:rPr>
              <a:t>turn_policy.py gating </a:t>
            </a:r>
            <a:r>
              <a:rPr i="1" sz="900">
                <a:solidFill>
                  <a:srgbClr val="64748B"/>
                </a:solidFill>
                <a:latin typeface="Arial"/>
              </a:rPr>
              <a:t>(was: DistilBERT Classifier)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Rationale: Classifier had high false-positive rejections; structural turn gating proved superior.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5394960"/>
            <a:ext cx="5285232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5440680"/>
            <a:ext cx="50292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003366"/>
                </a:solidFill>
                <a:latin typeface="Arial"/>
              </a:rPr>
              <a:t>Mastery Calc: </a:t>
            </a:r>
            <a:r>
              <a:rPr b="1" sz="950">
                <a:solidFill>
                  <a:srgbClr val="0F172A"/>
                </a:solidFill>
                <a:latin typeface="Arial"/>
              </a:rPr>
              <a:t>Token overlap + EWMA </a:t>
            </a:r>
            <a:r>
              <a:rPr i="1" sz="900">
                <a:solidFill>
                  <a:srgbClr val="64748B"/>
                </a:solidFill>
                <a:latin typeface="Arial"/>
              </a:rPr>
              <a:t>(was: Dense embedding cosine)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Rationale: Eliminated secondary model inference on every turn, cutting latency 7.8s -&gt; 3.3s.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SYSTEM ARCHITECTURE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Six-Layer Decoupled Engineering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Modular pipeline decoupling offline curriculum ingestion, client presentation, orchestration, and GPU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8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493776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493776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The Six Decoupled Functional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Layer 1: Offline Ingestion: </a:t>
            </a:r>
            <a:r>
              <a:rPr b="0" sz="1050">
                <a:solidFill>
                  <a:srgbClr val="334155"/>
                </a:solidFill>
                <a:latin typeface="Arial"/>
              </a:rPr>
              <a:t>PyMuPDF text extraction, OCR filter, 1200-char chunking, 768d nomic-embed-text vectors stored in Chroma DB.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Layer 2: Client Presentation: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React 18 / Vite Nebular UI (interactive desktop bench, prompt chips, teacher desk) and Expo Mobile client.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Layer 3: Orchestration Hub: </a:t>
            </a:r>
            <a:r>
              <a:rPr b="0" sz="1050">
                <a:solidFill>
                  <a:srgbClr val="334155"/>
                </a:solidFill>
                <a:latin typeface="Arial"/>
              </a:rPr>
              <a:t>Asynchronous FastAPI gateway handling JWT auth, CORS, session state, and SQLite persistence.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Layer 4: Turn Policy &amp; Retrieval: </a:t>
            </a:r>
            <a:r>
              <a:rPr b="0" sz="1050">
                <a:solidFill>
                  <a:srgbClr val="334155"/>
                </a:solidFill>
                <a:latin typeface="Arial"/>
              </a:rPr>
              <a:t>Intent classification, Chroma top-12 vector retrieval, and lexical term candidate reranking.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Layer 5: Socratic Inference: </a:t>
            </a:r>
            <a:r>
              <a:rPr b="0" sz="1050">
                <a:solidFill>
                  <a:srgbClr val="334155"/>
                </a:solidFill>
                <a:latin typeface="Arial"/>
              </a:rPr>
              <a:t>RunPod Serverless vLLM hosting fine-tuned Qwen2.5-7B Merged SFT (with ZeroGPU fallback).</a:t>
            </a:r>
          </a:p>
          <a:p>
            <a:pPr>
              <a:spcAft>
                <a:spcPts val="7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Layer 6: Knowledge Tracking: </a:t>
            </a:r>
            <a:r>
              <a:rPr b="0" sz="1050">
                <a:solidFill>
                  <a:srgbClr val="334155"/>
                </a:solidFill>
                <a:latin typeface="Arial"/>
              </a:rPr>
              <a:t>135-node directed graph mapping, EWMA mastery smoothing, and automated 3-turn confusion alert logging.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554480"/>
            <a:ext cx="556229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97880" y="1554480"/>
            <a:ext cx="5562295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End-to-End System Architecture Diagram</a:t>
            </a:r>
          </a:p>
        </p:txBody>
      </p:sp>
      <p:pic>
        <p:nvPicPr>
          <p:cNvPr id="13" name="Picture 12" descr="fig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057400"/>
            <a:ext cx="5285232" cy="36077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35040" y="5715000"/>
            <a:ext cx="5285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i="1">
                <a:solidFill>
                  <a:srgbClr val="64748B"/>
                </a:solidFill>
                <a:latin typeface="Arial"/>
              </a:defRPr>
            </a:pPr>
            <a:r>
              <a:t>Figure 4.1: Six-layer decoupled architecture: client presentation, FastAPI gateway, 5-stage turn policy, Chroma vector store, and RunPod vLLM GPU inference.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CURRICULUM RAG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Curriculum Ingestion &amp; Hybrid Candidate Reranking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Eliminating OCR noise and boilerplate reprint notices to ground Socratic inquiry in official CDC textbooks.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9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Document Cleaning &amp; Ingestion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Authoritative CDC Corpus: </a:t>
            </a:r>
            <a:r>
              <a:rPr b="0" sz="1050">
                <a:solidFill>
                  <a:srgbClr val="334155"/>
                </a:solidFill>
                <a:latin typeface="Arial"/>
              </a:rPr>
              <a:t>Ingested 17 official digital textbook volumes from Nepal's Curriculum Development Centre (CDC), covering Class 10 Compulsory Science, Optional Science, and foundational Grade 9.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Scanned Non-OCR Exclusion: </a:t>
            </a:r>
            <a:r>
              <a:rPr b="0" sz="1050">
                <a:solidFill>
                  <a:srgbClr val="334155"/>
                </a:solidFill>
                <a:latin typeface="Arial"/>
              </a:rPr>
              <a:t>Automated density checks flagged and rejected 2 scanned image PDFs (CDC2017, Part 1), eliminating unverified OCR garbage from the vector database.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Regex Boilerplate Stripping: </a:t>
            </a:r>
            <a:r>
              <a:rPr b="0" sz="1050">
                <a:solidFill>
                  <a:srgbClr val="334155"/>
                </a:solidFill>
                <a:latin typeface="Arial"/>
              </a:rPr>
              <a:t>Removed running headers ('Optional Science Grade 10') and reprint notices appearing on &gt;15% of pages to prevent false vector matches.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Recursive Chunking: </a:t>
            </a:r>
            <a:r>
              <a:rPr b="0" sz="1050">
                <a:solidFill>
                  <a:srgbClr val="334155"/>
                </a:solidFill>
                <a:latin typeface="Arial"/>
              </a:rPr>
              <a:t>Segmented text into 1,200-character chunks (~300 tokens) with 200-character overlap, preserving complete scientific definitions and chemical equations.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Ollama Vector Embeddings: </a:t>
            </a:r>
            <a:r>
              <a:rPr b="0" sz="1050">
                <a:solidFill>
                  <a:srgbClr val="334155"/>
                </a:solidFill>
                <a:latin typeface="Arial"/>
              </a:rPr>
              <a:t>Generated 768-dimensional dense embeddings using nomic-embed-text, indexed in persistent Chroma DB at backend/storage/chroma_db/.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Hybrid Retrieval &amp; Precision@3 Benchmark</a:t>
            </a:r>
          </a:p>
        </p:txBody>
      </p:sp>
      <p:pic>
        <p:nvPicPr>
          <p:cNvPr id="13" name="Picture 12" descr="fig_retrieval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011680"/>
            <a:ext cx="4937760" cy="20199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30975" y="41605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0975" y="4206240"/>
            <a:ext cx="48463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Candidate Generation: </a:t>
            </a:r>
            <a:r>
              <a:rPr b="0" sz="950">
                <a:solidFill>
                  <a:srgbClr val="334155"/>
                </a:solidFill>
                <a:latin typeface="Arial"/>
              </a:rPr>
              <a:t>Chroma ANN vector search retrieves expanded pool of top-12 candidates.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Lexical Reranker: </a:t>
            </a:r>
            <a:r>
              <a:rPr b="0" sz="950">
                <a:solidFill>
                  <a:srgbClr val="334155"/>
                </a:solidFill>
                <a:latin typeface="Arial"/>
              </a:rPr>
              <a:t>Reranks candidates based on non-stopword stem match + length penalty to select top-3 chunks.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Precision@3 Results: </a:t>
            </a:r>
            <a:r>
              <a:rPr b="0" sz="950">
                <a:solidFill>
                  <a:srgbClr val="334155"/>
                </a:solidFill>
                <a:latin typeface="Arial"/>
              </a:rPr>
              <a:t>Raw Vector (0.760) -&gt; Boilerplate Stripped (0.817) -&gt; Hybrid Reranked (0.873) -&gt; Target &gt;= 0.85 MET!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Subject Breakdown: </a:t>
            </a:r>
            <a:r>
              <a:rPr b="0" sz="950">
                <a:solidFill>
                  <a:srgbClr val="334155"/>
                </a:solidFill>
                <a:latin typeface="Arial"/>
              </a:rPr>
              <a:t>Chemistry: 0.890 | Physics: 0.865 | Biology: 0.865.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PEDAGOGICAL POLICY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Socratic Turn Policy &amp; Cognitive Scaffolding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Deterministic multi-layer gating suppresses direct answers and forces reflective inquiry.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10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28416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328416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Pedagogical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305409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The 'Socratic Oath': </a:t>
            </a:r>
            <a:r>
              <a:rPr b="0" sz="1000">
                <a:solidFill>
                  <a:srgbClr val="334155"/>
                </a:solidFill>
                <a:latin typeface="Arial"/>
              </a:rPr>
              <a:t>Never provide the direct answer; scaffold with guiding questions that lead the learner to deduce the solution independently.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Overcoming Answer Crutches: </a:t>
            </a:r>
            <a:r>
              <a:rPr b="0" sz="1000">
                <a:solidFill>
                  <a:srgbClr val="334155"/>
                </a:solidFill>
                <a:latin typeface="Arial"/>
              </a:rPr>
              <a:t>Commercial AI creates an illusion of competence. Clariq demands cognitive effort, reinforcing durable memory schemas.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Cognitive Prompt Chips: </a:t>
            </a:r>
            <a:r>
              <a:rPr b="0" sz="1000">
                <a:solidFill>
                  <a:srgbClr val="334155"/>
                </a:solidFill>
                <a:latin typeface="Arial"/>
              </a:rPr>
              <a:t>Interactive UI chips ('Give me a hint', 'Is my reasoning right?', 'What is the next step?') empower student agency.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Adaptive Scaffolding: </a:t>
            </a:r>
            <a:r>
              <a:rPr b="0" sz="1000">
                <a:solidFill>
                  <a:srgbClr val="334155"/>
                </a:solidFill>
                <a:latin typeface="Arial"/>
              </a:rPr>
              <a:t>Adjusts cognitive load based on student responses, simplifying concepts when confusion is detected.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54480"/>
            <a:ext cx="3328416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1554480"/>
            <a:ext cx="3328416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5-Stage Policy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057400"/>
            <a:ext cx="305409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Stage 1: Intent Routing: </a:t>
            </a:r>
            <a:r>
              <a:rPr b="0" sz="1000">
                <a:solidFill>
                  <a:srgbClr val="334155"/>
                </a:solidFill>
                <a:latin typeface="Arial"/>
              </a:rPr>
              <a:t>Classifies turns into Science Inquiry, Meta-Dialogue, or Social/Identity chitchat.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Stage 2: RAG Context Assembly: </a:t>
            </a:r>
            <a:r>
              <a:rPr b="0" sz="1000">
                <a:solidFill>
                  <a:srgbClr val="334155"/>
                </a:solidFill>
                <a:latin typeface="Arial"/>
              </a:rPr>
              <a:t>Injects top-3 reranked textbook chunks into strict Socratic system prompt.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Stage 3: LLM Inference: </a:t>
            </a:r>
            <a:r>
              <a:rPr b="0" sz="1000">
                <a:solidFill>
                  <a:srgbClr val="334155"/>
                </a:solidFill>
                <a:latin typeface="Arial"/>
              </a:rPr>
              <a:t>Fine-tuned Qwen2.5-7B Merged SFT generates pedagogical response.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Stage 4: Structural Verification: </a:t>
            </a:r>
            <a:r>
              <a:rPr b="0" sz="1000">
                <a:solidFill>
                  <a:srgbClr val="334155"/>
                </a:solidFill>
                <a:latin typeface="Arial"/>
              </a:rPr>
              <a:t>Deterministic regex checks verify terminal question mark ('?') and detect definitional assertion patterns.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Stage 5: Fallback Interception: </a:t>
            </a:r>
            <a:r>
              <a:rPr b="0" sz="1000">
                <a:solidFill>
                  <a:srgbClr val="334155"/>
                </a:solidFill>
                <a:latin typeface="Arial"/>
              </a:rPr>
              <a:t>If the model leaks an answer, the response is overridden with a pedagogical counter-question.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1554480"/>
            <a:ext cx="3328416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2" y="1554480"/>
            <a:ext cx="3328416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Policy Discipline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2057400"/>
            <a:ext cx="296265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488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rial"/>
              </a:defRPr>
            </a:pPr>
            <a:r>
              <a:t>0%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Direct Answer Dumps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Down from 88% in commercial GPT-4o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2752" y="3200400"/>
            <a:ext cx="296265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29184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100%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Guiding Inquiries ('?')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Up from 22% in commercial GPT-4o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434840"/>
            <a:ext cx="2962656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Zero Direct Leakage: </a:t>
            </a:r>
            <a:r>
              <a:rPr b="0" sz="950">
                <a:solidFill>
                  <a:srgbClr val="334155"/>
                </a:solidFill>
                <a:latin typeface="Arial"/>
              </a:rPr>
              <a:t>Across 100 development smoke items, Clariq 7B leaked 0 direct answers.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Robust Turn Gating: </a:t>
            </a:r>
            <a:r>
              <a:rPr b="0" sz="950">
                <a:solidFill>
                  <a:srgbClr val="334155"/>
                </a:solidFill>
                <a:latin typeface="Arial"/>
              </a:rPr>
              <a:t>Structural fallback ensures no student query terminates without a thought-provoking question.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MODEL ENGINEERING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Tutor Model Engineering &amp; Resolving Script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Scaling training data to 606 dialogues and consolidating weights via SFT LoRA on dual T4 GPUs.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11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Dataset Development &amp; Architecture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Dataset Expansion: </a:t>
            </a:r>
            <a:r>
              <a:rPr b="0" sz="1050">
                <a:solidFill>
                  <a:srgbClr val="334155"/>
                </a:solidFill>
                <a:latin typeface="Arial"/>
              </a:rPr>
              <a:t>Expanded training corpus from 54 initial seed skits to 606 curated multi-turn Socratic dialogues (4,628 turns) in datasets/socratic_dataset.jsonl across Physics, Chemistry, and Biology.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Prototype 1: Qwen3-4B LoRA: </a:t>
            </a:r>
            <a:r>
              <a:rPr b="0" sz="1050">
                <a:solidFill>
                  <a:srgbClr val="334155"/>
                </a:solidFill>
                <a:latin typeface="Arial"/>
              </a:rPr>
              <a:t>Fine-tuned 4B parameter model on RunPod. Successfully lifted guiding questions to 96% and reduced leakage to 4%.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Failure Mode: Script Collapse: </a:t>
            </a:r>
            <a:r>
              <a:rPr b="0" sz="1050">
                <a:solidFill>
                  <a:srgbClr val="334155"/>
                </a:solidFill>
                <a:latin typeface="Arial"/>
              </a:rPr>
              <a:t>Due to parameter capacity bottlenecks, the 4B model suffered 14 script collapse flags—repetitively reciting memorized optical prism skits on broad conceptual probes.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Production: Qwen2.5-7B Merged SFT: </a:t>
            </a:r>
            <a:r>
              <a:rPr b="0" sz="1050">
                <a:solidFill>
                  <a:srgbClr val="334155"/>
                </a:solidFill>
                <a:latin typeface="Arial"/>
              </a:rPr>
              <a:t>Fine-tuned Qwen2.5-7B-Instruct using Supervised Fine-Tuning (SFT) LoRA on dual NVIDIA T4 GPUs; merged weights via merge_and_unload into a standalone model.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High-Throughput Serving: </a:t>
            </a:r>
            <a:r>
              <a:rPr b="0" sz="1050">
                <a:solidFill>
                  <a:srgbClr val="334155"/>
                </a:solidFill>
                <a:latin typeface="Arial"/>
              </a:rPr>
              <a:t>Deployed on RunPod Serverless vLLM with PagedAttention, achieving 0 script collapse, 0% leakage, and 100% guiding inquiries.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100-Item Model Smoke Benchmark Comparison</a:t>
            </a:r>
          </a:p>
        </p:txBody>
      </p:sp>
      <p:pic>
        <p:nvPicPr>
          <p:cNvPr id="13" name="Picture 12" descr="fig_model_smok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011680"/>
            <a:ext cx="4937760" cy="24453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30975" y="4526280"/>
            <a:ext cx="2286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0703" y="4617720"/>
            <a:ext cx="2066543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rial"/>
              </a:defRPr>
            </a:pPr>
            <a:r>
              <a:t>0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Script Collapse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4B Raw had 14 flags; 7B Merged completely resolved collapse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1295" y="4526280"/>
            <a:ext cx="2286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1023" y="4617720"/>
            <a:ext cx="2066543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92%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Topical Alignment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High curriculum adherence without losing scientific depth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KNOWLEDGE GRAPH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Adaptive Knowledge Graph &amp; Formative Mastery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135-node curriculum topology, token-overlap scoring, and automated 3-turn confusion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12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Graph Topology &amp; Mastery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Curriculum Topology: </a:t>
            </a:r>
            <a:r>
              <a:rPr b="0" sz="1000">
                <a:solidFill>
                  <a:srgbClr val="334155"/>
                </a:solidFill>
                <a:latin typeface="Arial"/>
              </a:rPr>
              <a:t>Directed graph G = (V, E) comprising |V| = 135 concepts (45 Physics, 50 Chemistry, 40 Biology) connected by |E| = 99 prerequisite dependencies mapped from the SEE syllabus.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Turn Scoring Formula: </a:t>
            </a:r>
            <a:r>
              <a:rPr b="0" sz="1000">
                <a:solidFill>
                  <a:srgbClr val="334155"/>
                </a:solidFill>
                <a:latin typeface="Arial"/>
              </a:rPr>
              <a:t>s_t = sim(u_student, u_curriculum) * γ_coherence
Where sim(·) is Jaccard overlap of non-stop-word tokens against active concept node labels and aliases.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Coherence Penalty (γ): </a:t>
            </a:r>
            <a:r>
              <a:rPr b="0" sz="1000">
                <a:solidFill>
                  <a:srgbClr val="334155"/>
                </a:solidFill>
                <a:latin typeface="Arial"/>
              </a:rPr>
              <a:t>Penalizes fragmentation (γ = 0.30 if length &lt; 5 words) and rote copying (γ = 0.50 if overlap &gt; 0.85); valid formulations receive γ = 1.00.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EWMA Mastery Update: </a:t>
            </a:r>
            <a:r>
              <a:rPr b="0" sz="1000">
                <a:solidFill>
                  <a:srgbClr val="334155"/>
                </a:solidFill>
                <a:latin typeface="Arial"/>
              </a:rPr>
              <a:t>m_{t+1} = m_t + α(s_t - m_t), with smoothing factor α = 0.25 and neutral prior m_0 = 0.50.
• Mastered: m_t &gt;= 0.75 | In Progress: 0.40 &lt;= m_t &lt; 0.75 | Struggling: m_t &lt; 0.40.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Automated Confusion Alert: </a:t>
            </a:r>
            <a:r>
              <a:rPr b="0" sz="1000">
                <a:solidFill>
                  <a:srgbClr val="334155"/>
                </a:solidFill>
                <a:latin typeface="Arial"/>
              </a:rPr>
              <a:t>Three consecutive turns recording s_t &lt; 0.40 triggers a CONFUSION_EVENT logged in users.sqlite3, surfacing an immediate teacher diagnostic alert.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Mastery Telemetry Simulation &amp; Diagnostic Alert</a:t>
            </a:r>
          </a:p>
        </p:txBody>
      </p:sp>
      <p:pic>
        <p:nvPicPr>
          <p:cNvPr id="13" name="Picture 12" descr="fig_mastery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011680"/>
            <a:ext cx="4937760" cy="2468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30975" y="45720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30975" y="4572000"/>
            <a:ext cx="48463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Synthetic Multi-Turn Validation: </a:t>
            </a:r>
            <a:r>
              <a:rPr b="0" sz="950">
                <a:solidFill>
                  <a:srgbClr val="334155"/>
                </a:solidFill>
                <a:latin typeface="Arial"/>
              </a:rPr>
              <a:t>Validated via simulated dialogue on 'Solubility of Bases': student scored s1=0.22, s2=0.31, s3=0.28.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EWMA Trajectory: </a:t>
            </a:r>
            <a:r>
              <a:rPr b="0" sz="950">
                <a:solidFill>
                  <a:srgbClr val="334155"/>
                </a:solidFill>
                <a:latin typeface="Arial"/>
              </a:rPr>
              <a:t>Mastery dropped from m0=0.50 -&gt; 0.430 -&gt; 0.400 -&gt; 0.370 (&lt; 0.40 threshold).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Diagnostic Trigger: </a:t>
            </a:r>
            <a:r>
              <a:rPr b="0" sz="950">
                <a:solidFill>
                  <a:srgbClr val="334155"/>
                </a:solidFill>
                <a:latin typeface="Arial"/>
              </a:rPr>
              <a:t>Successfully logged CONFUSION_EVENT and flagged student on teacher desk.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CLIENT APPLICATIONS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Cross-Platform User Ecosystem: Web &amp; Mobile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Responsive React 18 / Vite Nebular Lab desktop suite, teacher supervision desk, and Expo mobile client.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13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840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38404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Student Web Tutoring Bench (React 18)</a:t>
            </a:r>
          </a:p>
        </p:txBody>
      </p:sp>
      <p:pic>
        <p:nvPicPr>
          <p:cNvPr id="10" name="Picture 9" descr="fig_ui_cha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3566160" cy="18388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402336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Nebular Lab UI: </a:t>
            </a:r>
            <a:r>
              <a:rPr b="0" sz="950">
                <a:solidFill>
                  <a:srgbClr val="334155"/>
                </a:solidFill>
                <a:latin typeface="Arial"/>
              </a:rPr>
              <a:t>Immersive dark interface designed for secondary science learners.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Turn Taking &amp; Chips: </a:t>
            </a:r>
            <a:r>
              <a:rPr b="0" sz="950">
                <a:solidFill>
                  <a:srgbClr val="334155"/>
                </a:solidFill>
                <a:latin typeface="Arial"/>
              </a:rPr>
              <a:t>Active session timeline, cognitive prompt chips, and strict turn gating.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Multi-Turn Socratic Flow: </a:t>
            </a:r>
            <a:r>
              <a:rPr b="0" sz="950">
                <a:solidFill>
                  <a:srgbClr val="334155"/>
                </a:solidFill>
                <a:latin typeface="Arial"/>
              </a:rPr>
              <a:t>Guides learners on chemical reactions without answer leakage.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54480"/>
            <a:ext cx="3840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1554480"/>
            <a:ext cx="38404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Teacher Diagnostic Supervision Desk</a:t>
            </a:r>
          </a:p>
        </p:txBody>
      </p:sp>
      <p:pic>
        <p:nvPicPr>
          <p:cNvPr id="14" name="Picture 13" descr="fig_ui_teacher_de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011680"/>
            <a:ext cx="3566160" cy="18422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92040" y="4023360"/>
            <a:ext cx="35661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Classroom Learning Analytics: </a:t>
            </a:r>
            <a:r>
              <a:rPr b="0" sz="950">
                <a:solidFill>
                  <a:srgbClr val="334155"/>
                </a:solidFill>
                <a:latin typeface="Arial"/>
              </a:rPr>
              <a:t>Summarized concept mastery trends without demanding raw log parsing.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Weak Topic Heatmaps: </a:t>
            </a:r>
            <a:r>
              <a:rPr b="0" sz="950">
                <a:solidFill>
                  <a:srgbClr val="334155"/>
                </a:solidFill>
                <a:latin typeface="Arial"/>
              </a:rPr>
              <a:t>Aggregates struggling nodes across Physics, Chemistry, and Biology.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Confusion Alert Feed: </a:t>
            </a:r>
            <a:r>
              <a:rPr b="0" sz="950">
                <a:solidFill>
                  <a:srgbClr val="334155"/>
                </a:solidFill>
                <a:latin typeface="Arial"/>
              </a:rPr>
              <a:t>Real-time flags highlighting students requiring human intervention.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1554480"/>
            <a:ext cx="2681935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1554480"/>
            <a:ext cx="2681935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Expo Mobile Client (React Native)</a:t>
            </a:r>
          </a:p>
        </p:txBody>
      </p:sp>
      <p:pic>
        <p:nvPicPr>
          <p:cNvPr id="18" name="Picture 17" descr="fig_ui_mobile_ap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011680"/>
            <a:ext cx="1074848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15400" y="4434840"/>
            <a:ext cx="2423160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b="1" sz="900">
                <a:solidFill>
                  <a:srgbClr val="003366"/>
                </a:solidFill>
                <a:latin typeface="Arial"/>
              </a:rPr>
              <a:t>•  Smartphone Tutoring: </a:t>
            </a:r>
            <a:r>
              <a:rPr b="0" sz="900">
                <a:solidFill>
                  <a:srgbClr val="334155"/>
                </a:solidFill>
                <a:latin typeface="Arial"/>
              </a:rPr>
              <a:t>Cross-platform mobile client for Android &amp; iOS.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3366"/>
                </a:solidFill>
                <a:latin typeface="Arial"/>
              </a:rPr>
              <a:t>•  Inquiry Streaks: </a:t>
            </a:r>
            <a:r>
              <a:rPr b="0" sz="900">
                <a:solidFill>
                  <a:srgbClr val="334155"/>
                </a:solidFill>
                <a:latin typeface="Arial"/>
              </a:rPr>
              <a:t>Daily science streaks and bite-sized learning cards.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003366"/>
                </a:solidFill>
                <a:latin typeface="Arial"/>
              </a:rPr>
              <a:t>•  Low-Bandwidth Mode: </a:t>
            </a:r>
            <a:r>
              <a:rPr b="0" sz="900">
                <a:solidFill>
                  <a:srgbClr val="334155"/>
                </a:solidFill>
                <a:latin typeface="Arial"/>
              </a:rPr>
              <a:t>Optimized payload size for mobile networks.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EXPERIMENTAL EVALUATION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Objective 1 &amp; 2: Curriculum RAG &amp; Smoke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Benchmarking retrieval precision across 100 queries and evaluating dialogue restraint across 100 stress items.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14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Objective 1: Curriculum RAG Benchmarking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574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206654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rial"/>
              </a:defRPr>
            </a:pPr>
            <a:r>
              <a:t>0.873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Precision@3 (Hybrid)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Target &gt;= 0.85 MET (+11.3% over raw vector)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148840"/>
            <a:ext cx="206654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100 Queries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300 Blind Judgments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Evaluated across Chem, Physics, and Biology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Pipeline Evolution: </a:t>
            </a:r>
            <a:r>
              <a:rPr b="0" sz="1050">
                <a:solidFill>
                  <a:srgbClr val="334155"/>
                </a:solidFill>
                <a:latin typeface="Arial"/>
              </a:rPr>
              <a:t>Raw Cosine Vector: 0.760 -&gt; Boilerplate Stripped: 0.817 -&gt; Hybrid Reranked: 0.873.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Domain Breakdown: </a:t>
            </a:r>
            <a:r>
              <a:rPr b="0" sz="1050">
                <a:solidFill>
                  <a:srgbClr val="334155"/>
                </a:solidFill>
                <a:latin typeface="Arial"/>
              </a:rPr>
              <a:t>Chemistry: 0.890 | Physics: 0.865 | Biology: 0.865.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Lexical Reranker Impact: </a:t>
            </a:r>
            <a:r>
              <a:rPr b="0" sz="1050">
                <a:solidFill>
                  <a:srgbClr val="334155"/>
                </a:solidFill>
                <a:latin typeface="Arial"/>
              </a:rPr>
              <a:t>Eliminated semantic confusion on technical terms (e.g. isotope vs covalent bond), ensuring accurate textbook context retrieval.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Objective 2: 100-Item Model Smoke Benchmark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82512" y="2057400"/>
          <a:ext cx="4937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"/>
                <a:gridCol w="777240"/>
                <a:gridCol w="777240"/>
                <a:gridCol w="777240"/>
              </a:tblGrid>
              <a:tr h="35269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GPT-4o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4B Raw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4B RAG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7B Merged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Direct Answer Dumps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Guides with Inquiry ('?')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Curriculum Alignment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3366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Misconceptions Challenged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3366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Script Collapse Flags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6A34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Topic Switch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03366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30975" y="4754880"/>
            <a:ext cx="4846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Commercial GPT-4o Hazard: </a:t>
            </a:r>
            <a:r>
              <a:rPr b="0" sz="950">
                <a:solidFill>
                  <a:srgbClr val="334155"/>
                </a:solidFill>
                <a:latin typeface="Arial"/>
              </a:rPr>
              <a:t>Dumps answers on 88% of queries; fails as a pedagogical mentor.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7B Merged SFT Mastery: </a:t>
            </a:r>
            <a:r>
              <a:rPr b="0" sz="950">
                <a:solidFill>
                  <a:srgbClr val="334155"/>
                </a:solidFill>
                <a:latin typeface="Arial"/>
              </a:rPr>
              <a:t>Achieved 0% answer dumps, 100% guiding inquiries, and completely eliminated script collapse, meeting all Objective 2 targets.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PERFORMANCE PROFILING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Objective 3: System Latency &amp; Concurrency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Evaluating response times across free-tier ZeroGPU and production RunPod Serverless vLLM.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15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Latency Benchmarks &amp; Concurrency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574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148840"/>
            <a:ext cx="206654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rial"/>
              </a:defRPr>
            </a:pPr>
            <a:r>
              <a:t>3.31 s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Median Warm Latency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Sequential Free Tier (ZeroGPU) -&gt; Target &lt;= 5.0s MET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057400"/>
            <a:ext cx="22860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148840"/>
            <a:ext cx="2066543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EA580C"/>
                </a:solidFill>
                <a:latin typeface="Arial"/>
              </a:defRPr>
            </a:pPr>
            <a:r>
              <a:t>6.66 s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Concurrent Median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RunPod Serverless vLLM under 10 active concurrent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Sequential Operational Latency: </a:t>
            </a:r>
            <a:r>
              <a:rPr b="0" sz="1000">
                <a:solidFill>
                  <a:srgbClr val="334155"/>
                </a:solidFill>
                <a:latin typeface="Arial"/>
              </a:rPr>
              <a:t>Hugging Face ZeroGPU achieved median latency of 3.31s (P95: 4.88s), successfully meeting the project's &lt;= 5.0s warm response target.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Concurrency Load Profiling: </a:t>
            </a:r>
            <a:r>
              <a:rPr b="0" sz="1000">
                <a:solidFill>
                  <a:srgbClr val="334155"/>
                </a:solidFill>
                <a:latin typeface="Arial"/>
              </a:rPr>
              <a:t>Under 10 simultaneous user queries on RunPod Serverless vLLM, median operational latency scaled to 6.66s (8.46s wall-clock).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Sub-Component Latency Breakdown: </a:t>
            </a:r>
            <a:r>
              <a:rPr b="0" sz="1000">
                <a:solidFill>
                  <a:srgbClr val="334155"/>
                </a:solidFill>
                <a:latin typeface="Arial"/>
              </a:rPr>
              <a:t>• Turn Policy Intent Routing: 12 ms
• Chroma Vector ANN Search: 45 ms
• Lexical Reranker &amp; Context Assembly: 8 ms
• vLLM GPU Generation: ~3,245 ms</a:t>
            </a:r>
          </a:p>
          <a:p>
            <a:pPr>
              <a:spcAft>
                <a:spcPts val="5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Cold Start Analysis: </a:t>
            </a:r>
            <a:r>
              <a:rPr b="0" sz="1000">
                <a:solidFill>
                  <a:srgbClr val="334155"/>
                </a:solidFill>
                <a:latin typeface="Arial"/>
              </a:rPr>
              <a:t>Serverless GPU container boot requires 22–45s; addressed via warm container keep-alives and Server-Sent Event (SSE) token streaming.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095" y="1554480"/>
            <a:ext cx="52120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Latency &amp; Concurrency Profiling Plots</a:t>
            </a:r>
          </a:p>
        </p:txBody>
      </p:sp>
      <p:pic>
        <p:nvPicPr>
          <p:cNvPr id="17" name="Picture 16" descr="fig_latency_concur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011680"/>
            <a:ext cx="4937760" cy="201999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30975" y="45262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Deployment Strategy: </a:t>
            </a:r>
            <a:r>
              <a:rPr b="0" sz="950">
                <a:solidFill>
                  <a:srgbClr val="334155"/>
                </a:solidFill>
                <a:latin typeface="Arial"/>
              </a:rPr>
              <a:t>Maintained dual infrastructure: RunPod Serverless vLLM for high-throughput production and ZeroGPU for open public demonstration.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003366"/>
                </a:solidFill>
                <a:latin typeface="Arial"/>
              </a:rPr>
              <a:t>•  Optimization Insight: </a:t>
            </a:r>
            <a:r>
              <a:rPr b="0" sz="950">
                <a:solidFill>
                  <a:srgbClr val="334155"/>
                </a:solidFill>
                <a:latin typeface="Arial"/>
              </a:rPr>
              <a:t>Replacing dense embedding cosine mastery with token-overlap Jaccard cut per-turn latency from 7.8s to 3.3s, a 57.7% reduction.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EMPIRICAL USER STUDY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Objective 5: Controlled Empirical Pilot Evaluation (N=20)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Between-subjects trial comparing Clariq Socratic AI Tutor vs. CDC Textbook Self-Study on Acids &amp; Bases.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16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4592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6A34A"/>
                </a:solidFill>
                <a:latin typeface="Arial"/>
              </a:defRPr>
            </a:pPr>
            <a:r>
              <a:t>+2.80 vs +1.20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Mean Learning Gain (Δ)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Clariq gained +2.80 vs Textbook +1.20 (t=6.656, p &lt; 0.0001*)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9470" y="15544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9198" y="164592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03366"/>
                </a:solidFill>
                <a:latin typeface="Arial"/>
              </a:defRPr>
            </a:pPr>
            <a:r>
              <a:t>34.8% Less Time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Study Time Reduction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8.35 min vs 12.80 min (t=-13.93, p &lt; 0.0001* -&gt; Target &gt;= 30% MET)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8335" y="1554480"/>
            <a:ext cx="32918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8063" y="1645920"/>
            <a:ext cx="3072384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7B5EA7"/>
                </a:solidFill>
                <a:latin typeface="Arial"/>
              </a:defRPr>
            </a:pPr>
            <a:r>
              <a:t>88.8 / 100</a:t>
            </a:r>
          </a:p>
          <a:p>
            <a:pPr>
              <a:spcBef>
                <a:spcPts val="300"/>
              </a:spcBef>
              <a:defRPr sz="1050" b="1">
                <a:solidFill>
                  <a:srgbClr val="0F172A"/>
                </a:solidFill>
                <a:latin typeface="Arial"/>
              </a:defRPr>
            </a:pPr>
            <a:r>
              <a:t>System Usability Scale (SUS)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Arial"/>
              </a:defRPr>
            </a:pPr>
            <a:r>
              <a:t>'Excellent' Adjective Rating (&gt;90th Percentile -&gt; Target &gt;= 70 MET)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212080" cy="3383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8036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Pilot Protocol &amp; Statistical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48463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Experimental Design: </a:t>
            </a:r>
            <a:r>
              <a:rPr b="0" sz="1000">
                <a:solidFill>
                  <a:srgbClr val="334155"/>
                </a:solidFill>
                <a:latin typeface="Arial"/>
              </a:rPr>
              <a:t>N = 20 Class 10 SEE students in Nepal (ages 15–16), randomized into Condition A (Clariq AI Tutor, n=10) and Condition B (Textbook Self-Study, n=10).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Topic Evaluated: </a:t>
            </a:r>
            <a:r>
              <a:rPr b="0" sz="1000">
                <a:solidFill>
                  <a:srgbClr val="334155"/>
                </a:solidFill>
                <a:latin typeface="Arial"/>
              </a:rPr>
              <a:t>Class 10 Chemistry Chapter 9: Chemical Acids, Bases, and Salts (specifically distinguishing alkalis vs. bases).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Baseline Equivalence: </a:t>
            </a:r>
            <a:r>
              <a:rPr b="0" sz="1000">
                <a:solidFill>
                  <a:srgbClr val="334155"/>
                </a:solidFill>
                <a:latin typeface="Arial"/>
              </a:rPr>
              <a:t>Pre-test scores were equivalent (1.90 vs. 2.00, t = -0.318, p = 0.7505), confirming no prior knowledge bias between cohorts.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Post-Test Comprehension: </a:t>
            </a:r>
            <a:r>
              <a:rPr b="0" sz="1000">
                <a:solidFill>
                  <a:srgbClr val="334155"/>
                </a:solidFill>
                <a:latin typeface="Arial"/>
              </a:rPr>
              <a:t>Clariq scored 4.70/5.0 vs. Textbook 3.20/5.0 (t = 5.960, p = 1.25e-5, large effect size Cohen's d = 2.666).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Methodological Caution: </a:t>
            </a:r>
            <a:r>
              <a:rPr b="0" sz="1000">
                <a:solidFill>
                  <a:srgbClr val="334155"/>
                </a:solidFill>
                <a:latin typeface="Arial"/>
              </a:rPr>
              <a:t>Large effect size reflects immediate post-test on a 5-item assessment with N=20; indicates strong initial inquiry acquisition, not proof of permanent retention.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2880360"/>
            <a:ext cx="521208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288036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Empirical Pilot Study Distributions (Figure 6.4)</a:t>
            </a:r>
          </a:p>
        </p:txBody>
      </p:sp>
      <p:pic>
        <p:nvPicPr>
          <p:cNvPr id="19" name="Picture 18" descr="fig_user_stud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310128"/>
            <a:ext cx="3609191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CHALLENGES &amp; LESSONS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Engineering Challenges, System Failures 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Honest evaluation of technical obstacles encountered and pragmatic engineering resolutions.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17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Script Collapse &amp; Model Bottlenecks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Failure: </a:t>
            </a:r>
            <a:r>
              <a:rPr b="0" sz="1050">
                <a:solidFill>
                  <a:srgbClr val="334155"/>
                </a:solidFill>
                <a:latin typeface="Arial"/>
              </a:rPr>
              <a:t>Early Qwen3-4B LoRA memorized narrow training templates, repeatedly reciting optical prism skits on broad conceptual queries (14 collapse flags).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Solution: </a:t>
            </a:r>
            <a:r>
              <a:rPr b="0" sz="1050">
                <a:solidFill>
                  <a:srgbClr val="334155"/>
                </a:solidFill>
                <a:latin typeface="Arial"/>
              </a:rPr>
              <a:t>Expanded dataset from 54 to 606 dialogues (4,628 turns), scaled to Qwen2.5-7B, and merged LoRA weights via merge_and_unload (0 collapse flags).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Retrieval Failures on Brief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0116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Failure: </a:t>
            </a:r>
            <a:r>
              <a:rPr b="0" sz="1050">
                <a:solidFill>
                  <a:srgbClr val="334155"/>
                </a:solidFill>
                <a:latin typeface="Arial"/>
              </a:rPr>
              <a:t>One-word student queries (e.g. 'Acid', 'Why?') lacked semantic density, causing standard vector search to retrieve irrelevant chapters.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Solution: </a:t>
            </a:r>
            <a:r>
              <a:rPr b="0" sz="1050">
                <a:solidFill>
                  <a:srgbClr val="334155"/>
                </a:solidFill>
                <a:latin typeface="Arial"/>
              </a:rPr>
              <a:t>Implemented query rewriting incorporating recent conversational context, combined with candidate lexical reranking to boost Precision@3 to 0.873.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Infrastructure Dependencies &amp; Rate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Failure: </a:t>
            </a:r>
            <a:r>
              <a:rPr b="0" sz="1050">
                <a:solidFill>
                  <a:srgbClr val="334155"/>
                </a:solidFill>
                <a:latin typeface="Arial"/>
              </a:rPr>
              <a:t>Free ZeroGPU instances experienced 60s quota drops during stress testing, disrupting continuous multi-turn student dialogues.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Solution: </a:t>
            </a:r>
            <a:r>
              <a:rPr b="0" sz="1050">
                <a:solidFill>
                  <a:srgbClr val="334155"/>
                </a:solidFill>
                <a:latin typeface="Arial"/>
              </a:rPr>
              <a:t>Architected dual deployment: RunPod Serverless vLLM for high-throughput production evaluation, with ZeroGPU kept for open public demonstration.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977639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3977639"/>
            <a:ext cx="5212080" cy="347472"/>
          </a:xfrm>
          <a:prstGeom prst="roundRect">
            <a:avLst/>
          </a:prstGeom>
          <a:solidFill>
            <a:srgbClr val="7B5EA7"/>
          </a:solidFill>
          <a:ln>
            <a:solidFill>
              <a:srgbClr val="7B5E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Evaluation Telemetry Logging Hygiene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975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Reality: </a:t>
            </a:r>
            <a:r>
              <a:rPr b="0" sz="1050">
                <a:solidFill>
                  <a:srgbClr val="334155"/>
                </a:solidFill>
                <a:latin typeface="Arial"/>
              </a:rPr>
              <a:t>Live student graph updates were not persisted to SQLite during the N=20 pilot study to avoid local file locking conflicts under unstandardized environments.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The Honest Reporting: </a:t>
            </a:r>
            <a:r>
              <a:rPr b="0" sz="1050">
                <a:solidFill>
                  <a:srgbClr val="334155"/>
                </a:solidFill>
                <a:latin typeface="Arial"/>
              </a:rPr>
              <a:t>Graph telemetry was validated computationally via automated synthetic simulations, maintaining transparent academic reporting.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CRITICAL EVALUATION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Status Against Planned Objectives &amp; Threats to Validity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Systematic verification matrix across all five formal deliverables and study limitations.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18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85216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85216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Objectives Verification Matrix (Table 8.1 in Dissertation)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11680"/>
            <a:ext cx="5577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2103120"/>
            <a:ext cx="1508760" cy="25603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84832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3366"/>
                </a:solidFill>
                <a:latin typeface="Arial"/>
              </a:defRPr>
            </a:pPr>
            <a:r>
              <a:t>Obj 1: Curriculum RAG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Target: P@3 &gt;= 0.85 across 100 queries  -&gt;  Achieved 0.873 (+11.3% gain)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798064"/>
            <a:ext cx="5577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46320" y="2889504"/>
            <a:ext cx="1508760" cy="25603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871216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3366"/>
                </a:solidFill>
                <a:latin typeface="Arial"/>
              </a:defRPr>
            </a:pPr>
            <a:r>
              <a:t>Obj 2: Socratic Model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Target: &lt;= 5% leakage; 0 script collapse  -&gt;  0% leakage; 0 collapse; 100%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584448"/>
            <a:ext cx="5577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46320" y="3675887"/>
            <a:ext cx="1508760" cy="256032"/>
          </a:xfrm>
          <a:prstGeom prst="round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MET / BORDERLINE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65760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3366"/>
                </a:solidFill>
                <a:latin typeface="Arial"/>
              </a:defRPr>
            </a:pPr>
            <a:r>
              <a:t>Obj 3: System Latency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Target: Warm latency &lt;= 5.0s  -&gt;  3.31s sequential; 6.66s concurrent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370832"/>
            <a:ext cx="5577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846320" y="4462272"/>
            <a:ext cx="1508760" cy="25603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PROTOTYPE DELIVERED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443984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3366"/>
                </a:solidFill>
                <a:latin typeface="Arial"/>
              </a:defRPr>
            </a:pPr>
            <a:r>
              <a:t>Obj 4: Knowledge Graph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Target: 135 nodes, EWMA tracking  -&gt;  135 nodes; 99 edges; simulated EWMA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157216"/>
            <a:ext cx="55778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846320" y="5248656"/>
            <a:ext cx="1508760" cy="256032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PILOT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30368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03366"/>
                </a:solidFill>
                <a:latin typeface="Arial"/>
              </a:defRPr>
            </a:pPr>
            <a:r>
              <a:t>Obj 5: User Pilot Study</a:t>
            </a:r>
          </a:p>
          <a:p>
            <a:pPr>
              <a:spcBef>
                <a:spcPts val="200"/>
              </a:spcBef>
              <a:defRPr sz="850">
                <a:solidFill>
                  <a:srgbClr val="334155"/>
                </a:solidFill>
                <a:latin typeface="Arial"/>
              </a:defRPr>
            </a:pPr>
            <a:r>
              <a:t>Target: &gt;= 30% time saved; SUS &gt;= 70  -&gt;  34.8% time saved; +2.80 gain; SUS 88.8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1554480"/>
            <a:ext cx="4647895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280" y="1554480"/>
            <a:ext cx="4647895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Threats to Validity &amp; Methodological Constraints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057400"/>
            <a:ext cx="4297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Internal Validity (Horizon): </a:t>
            </a:r>
            <a:r>
              <a:rPr b="0" sz="1000">
                <a:solidFill>
                  <a:srgbClr val="334155"/>
                </a:solidFill>
                <a:latin typeface="Arial"/>
              </a:rPr>
              <a:t>Immediate post-test measures short-term comprehension rather than long-term delayed retention; novelty effects may heighten initial engagement.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External Validity (Breadth): </a:t>
            </a:r>
            <a:r>
              <a:rPr b="0" sz="1000">
                <a:solidFill>
                  <a:srgbClr val="334155"/>
                </a:solidFill>
                <a:latin typeface="Arial"/>
              </a:rPr>
              <a:t>Pilot tested a single chemistry topic (Acids &amp; Bases); generalizability across all 135 curriculum concepts requires multi-school longitudinal trials.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Construct Validity (Testing): </a:t>
            </a:r>
            <a:r>
              <a:rPr b="0" sz="1000">
                <a:solidFill>
                  <a:srgbClr val="334155"/>
                </a:solidFill>
                <a:latin typeface="Arial"/>
              </a:rPr>
              <a:t>Multiple-choice pre/post instruments provide standardized grading but do not fully assess spontaneous reasoning or practical experimental skills.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003366"/>
                </a:solidFill>
                <a:latin typeface="Arial"/>
              </a:rPr>
              <a:t>•  Telemetry Heuristics: </a:t>
            </a:r>
            <a:r>
              <a:rPr b="0" sz="1000">
                <a:solidFill>
                  <a:srgbClr val="334155"/>
                </a:solidFill>
                <a:latin typeface="Arial"/>
              </a:rPr>
              <a:t>Token overlap acts as a lightweight proxy for understanding; semantic nuance and complex misconceptions require human validation.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LSEP GOVERNANCE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Legal, Social, Ethical &amp; Professional (LSEP)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Responsible engineering governance for educational AI artifacts deployed for secondary school minors.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19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Legal Framework &amp; Intellectual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Educational Fair Dealing: </a:t>
            </a:r>
            <a:r>
              <a:rPr b="0" sz="1050">
                <a:solidFill>
                  <a:srgbClr val="334155"/>
                </a:solidFill>
                <a:latin typeface="Arial"/>
              </a:rPr>
              <a:t>CDC textbooks utilized strictly under educational research provisions of the Nepal Copyright Act 2059 (Sections 16 &amp; 18) and UK CDPA 1988.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Open-Weight Licensing: </a:t>
            </a:r>
            <a:r>
              <a:rPr b="0" sz="1050">
                <a:solidFill>
                  <a:srgbClr val="334155"/>
                </a:solidFill>
                <a:latin typeface="Arial"/>
              </a:rPr>
              <a:t>Underlying tutor fine-tuned from Qwen2.5-7B-Instruct under permissive Apache 2.0 license; non-commercial open research distribution.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Social Equity &amp; Educational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011680"/>
            <a:ext cx="484632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Bridging the Educational Divide: </a:t>
            </a:r>
            <a:r>
              <a:rPr b="0" sz="1050">
                <a:solidFill>
                  <a:srgbClr val="334155"/>
                </a:solidFill>
                <a:latin typeface="Arial"/>
              </a:rPr>
              <a:t>Democratizes high-quality 1-on-1 tutoring, addressing the severe resource divide between urban private coaching and rural public schools.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Low-Bandwidth Optimization: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Engineered lightweight JSON payloads and client-side caching to ensure reliability over intermittent rural network connections.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77639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Ethical Governance &amp; Minor Protection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Protection of Minors (Ages 15-16): </a:t>
            </a:r>
            <a:r>
              <a:rPr b="0" sz="1050">
                <a:solidFill>
                  <a:srgbClr val="334155"/>
                </a:solidFill>
                <a:latin typeface="Arial"/>
              </a:rPr>
              <a:t>Voluntary student assent and parental awareness; full pseudonymisation (P01–P20); zero personal identifiable information (PII) logged.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Cognitive Ethics &amp; Agency: </a:t>
            </a:r>
            <a:r>
              <a:rPr b="0" sz="1050">
                <a:solidFill>
                  <a:srgbClr val="334155"/>
                </a:solidFill>
                <a:latin typeface="Arial"/>
              </a:rPr>
              <a:t>Socratic turn gating prevents over-reliance on generative AI, preserving learners' independent critical thinking and cognitive agency.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977639"/>
            <a:ext cx="521208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095" y="3977639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Professional Standards (BCS &amp; ACM Codes)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0975" y="4434840"/>
            <a:ext cx="4846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Software Engineering Rigor: </a:t>
            </a:r>
            <a:r>
              <a:rPr b="0" sz="1050">
                <a:solidFill>
                  <a:srgbClr val="334155"/>
                </a:solidFill>
                <a:latin typeface="Arial"/>
              </a:rPr>
              <a:t>Adherence to BCS Code of Conduct: modular decoupled architecture, defensive exception handling, and reproducible evaluation testbeds.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Scientific Honesty: </a:t>
            </a:r>
            <a:r>
              <a:rPr b="0" sz="1050">
                <a:solidFill>
                  <a:srgbClr val="334155"/>
                </a:solidFill>
                <a:latin typeface="Arial"/>
              </a:rPr>
              <a:t>Transparent disclosure of study limitations, sample size constraints, and acknowledgment of simulated graph telemetry.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7472"/>
            <a:ext cx="106984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[ CONCLUSION &amp; ROADMAP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Conclusion, Future Research Roadmap &amp; Defense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106984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Summary of core scientific contributions and future expansion for national educational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73952"/>
            <a:ext cx="1072865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Clariq: Socratic AI Science Tutor for SEE Students | Shekhar Lamichhane Magar (ID: 23189647)  •  CMP6200/DIG6200 FYP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7395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850" b="1">
                <a:solidFill>
                  <a:srgbClr val="003366"/>
                </a:solidFill>
                <a:latin typeface="Arial"/>
              </a:defRPr>
            </a:pPr>
            <a:r>
              <a:t>Slide 20 of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212080" cy="3794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Core Project Scientific 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First National Socratic AI Tutor: </a:t>
            </a:r>
            <a:r>
              <a:rPr b="0" sz="1050">
                <a:solidFill>
                  <a:srgbClr val="334155"/>
                </a:solidFill>
                <a:latin typeface="Arial"/>
              </a:rPr>
              <a:t>Designed and validated the first curriculum-grounded Socratic tutor specifically tailored for Nepal's Class 10 SEE Science examination.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Elimination of Answer Leakage: </a:t>
            </a:r>
            <a:r>
              <a:rPr b="0" sz="1050">
                <a:solidFill>
                  <a:srgbClr val="334155"/>
                </a:solidFill>
                <a:latin typeface="Arial"/>
              </a:rPr>
              <a:t>Proved that fine-tuning (Qwen2.5-7B Merged SFT) and structural turn policies suppress answer dumps from 88% (GPT-4o) to 0% with 100% guiding inquiry.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Empirical Comprehension Gains: </a:t>
            </a:r>
            <a:r>
              <a:rPr b="0" sz="1050">
                <a:solidFill>
                  <a:srgbClr val="334155"/>
                </a:solidFill>
                <a:latin typeface="Arial"/>
              </a:rPr>
              <a:t>Demonstrated significant pilot score improvements (+2.80 vs. +1.20) and a 34.8% reduction in study time with an 88.8 SUS rating.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Formative Knowledge Graph: </a:t>
            </a:r>
            <a:r>
              <a:rPr b="0" sz="1050">
                <a:solidFill>
                  <a:srgbClr val="334155"/>
                </a:solidFill>
                <a:latin typeface="Arial"/>
              </a:rPr>
              <a:t>Engineered an adaptive 135-node curriculum graph with EWMA telemetry and automated confusion flagging for classroom teachers.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554480"/>
            <a:ext cx="5212080" cy="3794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554480"/>
            <a:ext cx="5212080" cy="347472"/>
          </a:xfrm>
          <a:prstGeom prst="round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54864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Strategic Future Research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0975" y="2057400"/>
            <a:ext cx="484632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1. Recursive Conversational Memory: </a:t>
            </a:r>
            <a:r>
              <a:rPr b="0" sz="1050">
                <a:solidFill>
                  <a:srgbClr val="334155"/>
                </a:solidFill>
                <a:latin typeface="Arial"/>
              </a:rPr>
              <a:t>Implement recursive graph state tracking to retain student reasoning context across extended multi-session tutoring dialogues.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2. Formal Teacher Panel Validation: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Convene expert science teachers to compute inter-rater agreement (Cohen's κ) on knowledge graph prerequisite edges.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3. Longitudinal Multi-School Trials: </a:t>
            </a:r>
            <a:r>
              <a:rPr b="0" sz="1050">
                <a:solidFill>
                  <a:srgbClr val="334155"/>
                </a:solidFill>
                <a:latin typeface="Arial"/>
              </a:rPr>
              <a:t>Deploy across rural and urban community schools, measuring delayed retention over 6-week and 12-week study intervals.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03366"/>
                </a:solidFill>
                <a:latin typeface="Arial"/>
              </a:rPr>
              <a:t>•  4. Edge Model Quantization: </a:t>
            </a:r>
            <a:r>
              <a:rPr b="0" sz="1050">
                <a:solidFill>
                  <a:srgbClr val="334155"/>
                </a:solidFill>
                <a:latin typeface="Arial"/>
              </a:rPr>
              <a:t>Deploy GGUF-quantized models (e.g. 3B/7B) locally on low-cost offline tablets for off-grid Himalayan classrooms.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002046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32120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ACKNOWLEDGEMENTS &amp; DEFENSE Q&amp;A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Arial"/>
              </a:defRPr>
            </a:pPr>
            <a:r>
              <a:t>Sincere gratitude to project supervisor Rupak Koirala, the BCU Faculty of Computing, participating educators, and students.  |  Thank you — Questions &amp; Discussion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