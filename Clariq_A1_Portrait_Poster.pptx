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158" cy="302757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158" cy="2057400"/>
          </a:xfrm>
          <a:prstGeom prst="rect">
            <a:avLst/>
          </a:prstGeom>
          <a:solidFill>
            <a:srgbClr val="102D24"/>
          </a:solidFill>
          <a:ln>
            <a:solidFill>
              <a:srgbClr val="102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6032"/>
            <a:ext cx="4841152" cy="1508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164592"/>
            <a:ext cx="115214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Arial"/>
              </a:defRPr>
            </a:pPr>
            <a:r>
              <a:t>Clariq</a:t>
            </a:r>
          </a:p>
          <a:p>
            <a:pPr>
              <a:spcBef>
                <a:spcPts val="200"/>
              </a:spcBef>
              <a:defRPr sz="2000" b="1">
                <a:solidFill>
                  <a:srgbClr val="BAE6FD"/>
                </a:solidFill>
                <a:latin typeface="Arial"/>
              </a:defRPr>
            </a:pPr>
            <a:r>
              <a:t>AI-Powered Socratic Science Tutor with Adaptive Knowledge Tracking</a:t>
            </a:r>
          </a:p>
          <a:p>
            <a:pPr>
              <a:spcBef>
                <a:spcPts val="200"/>
              </a:spcBef>
              <a:defRPr sz="1350">
                <a:solidFill>
                  <a:srgbClr val="E0F2FE"/>
                </a:solidFill>
                <a:latin typeface="Arial"/>
              </a:defRPr>
            </a:pPr>
            <a:r>
              <a:t>For Nepal's Secondary Education Examination (SEE, Class 10 Science)  •  Physics, Chemistry &amp; Biology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0" y="201168"/>
            <a:ext cx="4370832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800" b="1">
                <a:solidFill>
                  <a:srgbClr val="FFFFFF"/>
                </a:solidFill>
                <a:latin typeface="Arial"/>
              </a:defRPr>
            </a:pPr>
            <a:r>
              <a:t>SUNWAY COLLEGE</a:t>
            </a:r>
          </a:p>
          <a:p>
            <a:pPr algn="r">
              <a:defRPr sz="1350" b="1">
                <a:solidFill>
                  <a:srgbClr val="F59E0B"/>
                </a:solidFill>
                <a:latin typeface="Arial"/>
              </a:defRPr>
            </a:pPr>
            <a:r>
              <a:t>KATHMANDU, NEPAL</a:t>
            </a:r>
          </a:p>
          <a:p>
            <a:pPr algn="r">
              <a:spcBef>
                <a:spcPts val="4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BIRMINGHAM CITY</a:t>
            </a:r>
            <a:br/>
            <a:r>
              <a:t>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31136"/>
            <a:ext cx="115214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11827"/>
                </a:solidFill>
                <a:latin typeface="Arial"/>
              </a:defRPr>
            </a:pPr>
            <a:r>
              <a:t>Shekhar Lamichhane Magar | Student ID: 23189647 | CMP6200 Individual Honours Project</a:t>
            </a:r>
          </a:p>
          <a:p>
            <a:pPr>
              <a:spcBef>
                <a:spcPts val="200"/>
              </a:spcBef>
              <a:defRPr sz="1350">
                <a:solidFill>
                  <a:srgbClr val="374151"/>
                </a:solidFill>
                <a:latin typeface="Arial"/>
              </a:defRPr>
            </a:pPr>
            <a:r>
              <a:t>Project Supervisor: Rupak Koirala  •  Department of Computer and Data Science  •  October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435840" y="2176272"/>
            <a:ext cx="8211312" cy="91440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73000" y="2231136"/>
            <a:ext cx="793699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11827"/>
                </a:solidFill>
                <a:latin typeface="Arial"/>
              </a:defRPr>
            </a:pPr>
            <a:r>
              <a:t>Standout Novelty &amp; Core Contribution</a:t>
            </a:r>
          </a:p>
          <a:p>
            <a:pPr>
              <a:spcBef>
                <a:spcPts val="200"/>
              </a:spcBef>
              <a:defRPr sz="1100">
                <a:solidFill>
                  <a:srgbClr val="374151"/>
                </a:solidFill>
                <a:latin typeface="Arial"/>
              </a:defRPr>
            </a:pPr>
            <a:r>
              <a:t>First curriculum-grounded Socratic tutor for Nepal's Class 10 SEE with strict turn gating (0% answer leaks vs 88% GPT-4o), 135-node adaptive knowledge graph, real-time confusion telemetry, and responsive web/mobile clients.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18688"/>
            <a:ext cx="7406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273552"/>
            <a:ext cx="7132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11827"/>
                </a:solidFill>
              </a:defRPr>
            </a:pPr>
            <a:r>
              <a:t>Problem &amp; Background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21024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National Failure Crisis: </a:t>
            </a:r>
            <a:r>
              <a:rPr sz="1050">
                <a:solidFill>
                  <a:srgbClr val="374151"/>
                </a:solidFill>
                <a:latin typeface="Arial"/>
              </a:rPr>
              <a:t>In 2080-81 SEE, 79,271 students (15.42%) were marked Non-Graded (NG) in Science &amp; Technology—the highest deficit subject in Nepal (MoEST, 2024).</a:t>
            </a:r>
          </a:p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The AI 'Cognitive Crutch' Hazard: </a:t>
            </a:r>
            <a:r>
              <a:rPr sz="1050">
                <a:solidFill>
                  <a:srgbClr val="374151"/>
                </a:solidFill>
                <a:latin typeface="Arial"/>
              </a:rPr>
              <a:t>Commercial chatbots (GPT-4o) act as unearned answer dispensers (88% answer dumps), short-circuiting metacognition and inducing cognitive atrophy (Bastani et al., 2025).</a:t>
            </a:r>
          </a:p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Socio-Economic &amp; Rural Divide: </a:t>
            </a:r>
            <a:r>
              <a:rPr sz="1050">
                <a:solidFill>
                  <a:srgbClr val="374151"/>
                </a:solidFill>
                <a:latin typeface="Arial"/>
              </a:rPr>
              <a:t>Private tutoring costs NPR 2,000–5,000/mo ($15–$40), unaffordable for rural families. Rural schools face 50+:1 pupil-teacher ratios and limited internet infrastructure.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40680"/>
            <a:ext cx="740664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495544"/>
            <a:ext cx="7132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11827"/>
                </a:solidFill>
              </a:defRPr>
            </a:pPr>
            <a:r>
              <a:t>Identified Research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15584"/>
            <a:ext cx="71323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374151"/>
                </a:solidFill>
                <a:latin typeface="Arial"/>
              </a:defRPr>
            </a:pPr>
            <a:r>
              <a:t>Existing educational AI tools either act as didactic answer dispensers without national curriculum grounding, or rely on rigid rule-based ITS without conversational fluidity. No prior work provides open-weight Socratic dialogue models governed by deterministic turn gating combined with dynamic concept mastery tracking for South Asian national secondary curricula.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693408"/>
            <a:ext cx="740664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6748272"/>
            <a:ext cx="7132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11827"/>
                </a:solidFill>
              </a:defRPr>
            </a:pPr>
            <a:r>
              <a:t>Aim, Objectives &amp; Research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7077456"/>
            <a:ext cx="713232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111827"/>
                </a:solidFill>
                <a:latin typeface="Arial"/>
              </a:defRPr>
            </a:pPr>
            <a:r>
              <a:t>Research Aim: To design, implement, and empirically pilot Clariq—an AI-powered Socratic science tutor delivering curriculum-grounded dialogue, dynamically tracking mastery across a 135-node Knowledge Graph, and evaluating its pedagogical feasibility.</a:t>
            </a:r>
          </a:p>
          <a:p>
            <a:pPr>
              <a:spcAft>
                <a:spcPts val="200"/>
              </a:spcAft>
              <a:defRPr sz="1019" b="1">
                <a:solidFill>
                  <a:srgbClr val="003366"/>
                </a:solidFill>
                <a:latin typeface="Arial"/>
              </a:defRPr>
            </a:pPr>
            <a:r>
              <a:t>• RQ1 (Dialogue Restraint): Can open-weight LLMs, constrained by turn policies and RAG, sustain multi-turn inquiry without leaking direct answers?</a:t>
            </a:r>
            <a:br/>
            <a:r>
              <a:t>• RQ2 (Mastery Telemetry): Can conversational turns yield reliable concept mastery telemetry across an adaptive knowledge graph to flag struggling students?</a:t>
            </a:r>
          </a:p>
          <a:p>
            <a:pPr>
              <a:defRPr sz="919">
                <a:solidFill>
                  <a:srgbClr val="374151"/>
                </a:solidFill>
                <a:latin typeface="Arial"/>
              </a:defRPr>
            </a:pPr>
            <a:r>
              <a:t>Itemized Research Targets:</a:t>
            </a:r>
            <a:br/>
            <a:r>
              <a:t>1. Ingest official CDC Class 10 science textbooks into Chroma vector DB</a:t>
            </a:r>
            <a:br/>
            <a:r>
              <a:t>2. Implement hybrid RAG with lexical candidate reranking (P@3 &gt;= 0.85)</a:t>
            </a:r>
            <a:br/>
            <a:r>
              <a:t>3. Enforce 5-stage turn policy (turn_policy.py) to suppress answer leakage</a:t>
            </a:r>
            <a:br/>
            <a:r>
              <a:t>4. Fine-tune open-weight Socratic dialogue model on dual T4 GPUs</a:t>
            </a:r>
            <a:br/>
            <a:r>
              <a:t>5. Eliminate script collapse via weight merging (Qwen2.5-7B Merged SFT)</a:t>
            </a:r>
            <a:br/>
            <a:r>
              <a:t>6. Construct 135-node directed knowledge graph across Physics, Chem, Bio</a:t>
            </a:r>
            <a:br/>
            <a:r>
              <a:t>7. Formulate token-overlap scoring with coherence and rote-copy penalties</a:t>
            </a:r>
            <a:br/>
            <a:r>
              <a:t>8. Implement Exponential Moving Average (EWMA) mastery updating</a:t>
            </a:r>
            <a:br/>
            <a:r>
              <a:t>9. Engineer teacher desk with real-time 3-turn struggle diagnostic flags</a:t>
            </a:r>
            <a:br/>
            <a:r>
              <a:t>10. Conduct controlled empirical pilot user study (N=20) vs. textbook 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9784080"/>
            <a:ext cx="740664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9857232"/>
            <a:ext cx="71323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 b="1">
                <a:solidFill>
                  <a:srgbClr val="111827"/>
                </a:solidFill>
              </a:defRPr>
            </a:pPr>
            <a:r>
              <a:t>Curriculum Knowledge Base, Dataset &amp; Tech Stack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10204704"/>
            <a:ext cx="713232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</a:pPr>
            <a:r>
              <a:rPr b="1" sz="1050">
                <a:solidFill>
                  <a:srgbClr val="003366"/>
                </a:solidFill>
                <a:latin typeface="Arial"/>
              </a:rPr>
              <a:t>•  135 Curriculum Concept Nodes: </a:t>
            </a:r>
            <a:r>
              <a:rPr sz="1000">
                <a:solidFill>
                  <a:srgbClr val="374151"/>
                </a:solidFill>
                <a:latin typeface="Arial"/>
              </a:rPr>
              <a:t>Physics (45 nodes: Force, Gravity, Pressure, Electricity, Heat); Chemistry (50 nodes: Reactions, Periodic Table, Acid-Base-Salt, Metals); Biology (40 nodes: Cells, Heredity, Circulation, Ecosystems).</a:t>
            </a:r>
          </a:p>
          <a:p>
            <a:pPr>
              <a:spcAft>
                <a:spcPts val="250"/>
              </a:spcAft>
            </a:pPr>
            <a:r>
              <a:rPr b="1" sz="1050">
                <a:solidFill>
                  <a:srgbClr val="003366"/>
                </a:solidFill>
                <a:latin typeface="Arial"/>
              </a:rPr>
              <a:t>•  17 CDC Textbooks (Curriculum RAG): </a:t>
            </a:r>
            <a:r>
              <a:rPr sz="1000">
                <a:solidFill>
                  <a:srgbClr val="374151"/>
                </a:solidFill>
                <a:latin typeface="Arial"/>
              </a:rPr>
              <a:t>Official national curriculum text volumes digitized, cleaned with regex boilerplate stripping (&gt;15% page recurrence), partitioned into 1,200-char chunks (200 overlap), indexed in Chroma DB (768d vectors).</a:t>
            </a:r>
          </a:p>
          <a:p>
            <a:pPr>
              <a:spcAft>
                <a:spcPts val="250"/>
              </a:spcAft>
            </a:pPr>
            <a:r>
              <a:rPr b="1" sz="1050">
                <a:solidFill>
                  <a:srgbClr val="003366"/>
                </a:solidFill>
                <a:latin typeface="Arial"/>
              </a:rPr>
              <a:t>•  Socratic Dialogue Corpus (606 Dialogues): </a:t>
            </a:r>
            <a:r>
              <a:rPr sz="1000">
                <a:solidFill>
                  <a:srgbClr val="374151"/>
                </a:solidFill>
                <a:latin typeface="Arial"/>
              </a:rPr>
              <a:t>4,628 multi-turn interactions spanning 5 pedagogical categories: Direct Conceptual, Misconceptions, Stuck/Confused, Topic Switches, and Ambiguous Probes.</a:t>
            </a:r>
          </a:p>
          <a:p>
            <a:pPr>
              <a:spcAft>
                <a:spcPts val="250"/>
              </a:spcAft>
            </a:pPr>
            <a:r>
              <a:rPr b="1" sz="1050">
                <a:solidFill>
                  <a:srgbClr val="003366"/>
                </a:solidFill>
                <a:latin typeface="Arial"/>
              </a:rPr>
              <a:t>•  Experimental Tech Stack: </a:t>
            </a:r>
            <a:r>
              <a:rPr sz="1000">
                <a:solidFill>
                  <a:srgbClr val="374151"/>
                </a:solidFill>
                <a:latin typeface="Arial"/>
              </a:rPr>
              <a:t>Qwen2.5-7B Merged SFT, PyTorch, vLLM PagedAttention on RunPod GPU, FastAPI gateway, Chroma DB, React 18, Vite, Tailwind CSS, Expo (React Native).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18688"/>
            <a:ext cx="1209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Research Methodology &amp; Engineering Framework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35661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1080" y="3611879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1. Design Science Research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Six DSR iterative stages: problem identification, objective definition, design/dev, demonstration, evaluation, dissemination (Peffers et al., 2007).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55296" y="35661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46736" y="3611879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2. Hybrid Retrieval (RAG)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Domain-sanitized CDC corpus (17 textbooks) embedded via nomic-embed-text (768d) in Chroma DB with lexical candidate reranking for curriculum grounding.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760951" y="35661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852392" y="3611879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3. Turn Policy Gating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turn_policy.py 5-stage deterministic state machine enforcing Socratic restraint, scaffolding inquiry probes, and suppressing direct factual answer disclosures.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44805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1080" y="4526280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4. SFT Socratic LLM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Qwen2.5-7B fine-tuned on 606 curriculum dialogues across 5 pedagogical categories on dual T4 GPUs with merged weights to eliminate script collapse.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55296" y="44805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46736" y="4526280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5. Knowledge Graph &amp; EWMA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135 concept nodes (Physics, Chem, Bio). Real-time student response scoring (token overlap, copy penalty) and Exponential Moving Average telemetry.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760951" y="4480560"/>
            <a:ext cx="3886200" cy="777240"/>
          </a:xfrm>
          <a:prstGeom prst="roundRect">
            <a:avLst/>
          </a:prstGeom>
          <a:solidFill>
            <a:srgbClr val="F9FAFB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852392" y="4526280"/>
            <a:ext cx="3703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6. Client Ecosystem</a:t>
            </a:r>
          </a:p>
          <a:p>
            <a:pPr>
              <a:spcBef>
                <a:spcPts val="100"/>
              </a:spcBef>
              <a:defRPr sz="950">
                <a:solidFill>
                  <a:srgbClr val="374151"/>
                </a:solidFill>
                <a:latin typeface="Arial"/>
              </a:defRPr>
            </a:pPr>
            <a:r>
              <a:t>Cross-platform access via React 18 / Vite web application and Expo (React Native) mobile client; teacher diagnostic analytics desk with struggle flags.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5394960"/>
            <a:ext cx="1209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Clariq Six-Layer System Architecture &amp; Interaction Workflow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49640" y="5760720"/>
            <a:ext cx="12097512" cy="7269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fig_syste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4" y="5806440"/>
            <a:ext cx="10515600" cy="71780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1520" y="13213080"/>
            <a:ext cx="1992111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Empirical Model Evaluation &amp; Adversarial Benchmark (100-Item Challenge Suite)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13578840"/>
            <a:ext cx="868680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ig_model_smoke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13670280"/>
            <a:ext cx="7754112" cy="384048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9601200" y="13578840"/>
            <a:ext cx="11045952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136702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11827"/>
                </a:solidFill>
                <a:latin typeface="Arial"/>
              </a:defRPr>
            </a:pPr>
            <a:r>
              <a:t>Comparative Benchmark Findings (Table 6.2 in Dissertation)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03366"/>
                </a:solidFill>
                <a:latin typeface="Arial"/>
              </a:rPr>
              <a:t>•  Clariq (Qwen2.5-7B Merged SFT + Turn Policy): </a:t>
            </a:r>
            <a:r>
              <a:rPr sz="1050">
                <a:solidFill>
                  <a:srgbClr val="374151"/>
                </a:solidFill>
                <a:latin typeface="Arial"/>
              </a:rPr>
              <a:t>0% Direct Answer Leaks  •  100% Guiding Questions  •  0 Script Collapse Flags  •  3.31s Median Latency.
Achieved absolute conversational compliance with zero direct answer disclosures across all 100 adversarial student probes.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03366"/>
                </a:solidFill>
                <a:latin typeface="Arial"/>
              </a:rPr>
              <a:t>•  Commercial GPT-4o (Frontier Model Baseline): </a:t>
            </a:r>
            <a:r>
              <a:rPr sz="1050">
                <a:solidFill>
                  <a:srgbClr val="374151"/>
                </a:solidFill>
                <a:latin typeface="Arial"/>
              </a:rPr>
              <a:t>88% Direct Answer Dumps  •  Only 22% Guiding Questions  •  2.12s Latency.
Completely fails Socratic restraint by immediately dispensing full solutions, robbing students of self-guided synthesis.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03366"/>
                </a:solidFill>
                <a:latin typeface="Arial"/>
              </a:rPr>
              <a:t>•  Qwen-4B LoRA (Raw Unmerged Baseline): </a:t>
            </a:r>
            <a:r>
              <a:rPr sz="1050">
                <a:solidFill>
                  <a:srgbClr val="374151"/>
                </a:solidFill>
                <a:latin typeface="Arial"/>
              </a:rPr>
              <a:t>4% Answer Dumps  •  96% Questions  •  14 Script Collapse Flags  •  5.80s Latency.
Suffered catastrophic prompt loop repetition on English prefixes; resolved completely by 7B weight merging.</a:t>
            </a:r>
          </a:p>
          <a:p>
            <a:pPr>
              <a:spcBef>
                <a:spcPts val="300"/>
              </a:spcBef>
            </a:pPr>
            <a:r>
              <a:rPr b="1" sz="1100">
                <a:solidFill>
                  <a:srgbClr val="003366"/>
                </a:solidFill>
                <a:latin typeface="Arial"/>
              </a:rPr>
              <a:t>•  Deterministic Socratic Gating (turn_policy.py): </a:t>
            </a:r>
            <a:r>
              <a:rPr sz="1050">
                <a:solidFill>
                  <a:srgbClr val="374151"/>
                </a:solidFill>
                <a:latin typeface="Arial"/>
              </a:rPr>
              <a:t>Multi-stage deterministic validation intercepts raw LLM candidate outputs before transmission. If answer leakage or script repetition is detected, the policy dynamically injects a guiding scaffold probe.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17785080"/>
            <a:ext cx="1992111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Key Empirical Results &amp; Baseline Model Comparison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16A34A"/>
                </a:solidFill>
                <a:latin typeface="Arial"/>
              </a:defRPr>
            </a:pPr>
            <a:r>
              <a:t>0.873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Curriculum RAG</a:t>
            </a:r>
            <a:br/>
            <a:r>
              <a:t>Precision@3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Target: &gt;= 0.85 (MET)</a:t>
            </a:r>
            <a:br/>
            <a:r>
              <a:t>+11.3% over cosine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93592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85032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16A34A"/>
                </a:solidFill>
                <a:latin typeface="Arial"/>
              </a:defRPr>
            </a:pPr>
            <a:r>
              <a:t>0%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Direct Answer</a:t>
            </a:r>
            <a:br/>
            <a:r>
              <a:t>Dumps (Leakage)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Baseline: 88% GPT-4o</a:t>
            </a:r>
            <a:br/>
            <a:r>
              <a:t>Total restraint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55664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003366"/>
                </a:solidFill>
                <a:latin typeface="Arial"/>
              </a:defRPr>
            </a:pPr>
            <a:r>
              <a:t>100%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Guiding Questions</a:t>
            </a:r>
            <a:br/>
            <a:r>
              <a:t>('?') Post-Policy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Baseline: 22% GPT-4o</a:t>
            </a:r>
            <a:br/>
            <a:r>
              <a:t>Strict guidance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17736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09176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16A34A"/>
                </a:solidFill>
                <a:latin typeface="Arial"/>
              </a:defRPr>
            </a:pPr>
            <a:r>
              <a:t>0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Script Collapse</a:t>
            </a:r>
            <a:br/>
            <a:r>
              <a:t>Flags (Memorization)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Baseline: 14 in 4B Raw</a:t>
            </a:r>
            <a:br/>
            <a:r>
              <a:t>Resolved via 7B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179808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271248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003366"/>
                </a:solidFill>
                <a:latin typeface="Arial"/>
              </a:defRPr>
            </a:pPr>
            <a:r>
              <a:t>3.31 s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Median Warm</a:t>
            </a:r>
            <a:br/>
            <a:r>
              <a:t>Latency (ZeroGPU)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Target: &lt;= 5.0s (MET)</a:t>
            </a:r>
            <a:br/>
            <a:r>
              <a:t>RunPod: 6.66s conc.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5041880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133320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16A34A"/>
                </a:solidFill>
                <a:latin typeface="Arial"/>
              </a:defRPr>
            </a:pPr>
            <a:r>
              <a:t>+2.80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Mean Pilot</a:t>
            </a:r>
            <a:br/>
            <a:r>
              <a:t>Learning Gain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Baseline: +1.20 Book</a:t>
            </a:r>
            <a:br/>
            <a:r>
              <a:t>4.70 vs 3.20 post-score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7903952" y="18196560"/>
            <a:ext cx="2697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7995392" y="18242280"/>
            <a:ext cx="2514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500" b="1">
                <a:solidFill>
                  <a:srgbClr val="003366"/>
                </a:solidFill>
                <a:latin typeface="Arial"/>
              </a:defRPr>
            </a:pPr>
            <a:r>
              <a:t>88.8 / 100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111827"/>
                </a:solidFill>
                <a:latin typeface="Arial"/>
              </a:defRPr>
            </a:pPr>
            <a:r>
              <a:t>System Usability</a:t>
            </a:r>
            <a:br/>
            <a:r>
              <a:t>Scale (SUS)</a:t>
            </a:r>
          </a:p>
          <a:p>
            <a:pPr algn="ctr">
              <a:spcBef>
                <a:spcPts val="100"/>
              </a:spcBef>
              <a:defRPr sz="880">
                <a:solidFill>
                  <a:srgbClr val="6B7280"/>
                </a:solidFill>
                <a:latin typeface="Arial"/>
              </a:defRPr>
            </a:pPr>
            <a:r>
              <a:t>Target: &gt;= 70.0 (MET)</a:t>
            </a:r>
            <a:br/>
            <a:r>
              <a:t>Rating: 'Excellent'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1520" y="19613880"/>
            <a:ext cx="19921118" cy="8686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868680" y="19677888"/>
            <a:ext cx="1645920" cy="73152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  <a:latin typeface="Arial"/>
              </a:defRPr>
            </a:pPr>
            <a:r>
              <a:t>UAT PILOT</a:t>
            </a:r>
            <a:br/>
            <a:r>
              <a:t>TRIAL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97480" y="19650456"/>
            <a:ext cx="177393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11827"/>
                </a:solidFill>
                <a:latin typeface="Arial"/>
              </a:defRPr>
            </a:pPr>
            <a:r>
              <a:t>User Acceptance Testing (UAT) &amp; Empirical Pilot Feasibility Trial  (N = 20 Class 10 Students, Ages 15–16)</a:t>
            </a:r>
          </a:p>
          <a:p>
            <a:pPr>
              <a:spcBef>
                <a:spcPts val="150"/>
              </a:spcBef>
              <a:defRPr sz="1000">
                <a:solidFill>
                  <a:srgbClr val="374151"/>
                </a:solidFill>
                <a:latin typeface="Arial"/>
              </a:defRPr>
            </a:pPr>
            <a:r>
              <a:t>• Higher Comprehension: Clariq students scored 4.70 / 5.0 on post-study assessment vs. 3.20 / 5.0 for CDC textbook self-study (+1.50 higher comprehension; +2.80 learning gain).</a:t>
            </a:r>
            <a:br/>
            <a:r>
              <a:t>• Time Efficiency: 34.8% reduction in study duration (8.35 min with Clariq vs. 12.80 min with textbook self-study) while maintaining deeper understanding.</a:t>
            </a:r>
            <a:br/>
            <a:r>
              <a:t>• High Usability: 88.8 / 100 System Usability Scale (SUS) rating ('Excellent' usability across all 10 standard items). Preliminary trial focused on Chemical Acids, Bases &amp; Salts.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06197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Practical Implications &amp; Educational Significance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20985480"/>
            <a:ext cx="1115568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Bridging the Rural Educational Divide: </a:t>
            </a:r>
            <a:r>
              <a:rPr sz="1019">
                <a:solidFill>
                  <a:srgbClr val="374151"/>
                </a:solidFill>
                <a:latin typeface="Arial"/>
              </a:rPr>
              <a:t>Provides free 1-on-1 Socratic tutoring to rural public school students who cannot afford private tuition ($15–$40/mo). Designed specifically to operate over low-cost smartphones even under constrained educational resources.</a:t>
            </a:r>
          </a:p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Protecting Cognitive Autonomy: </a:t>
            </a:r>
            <a:r>
              <a:rPr sz="1019">
                <a:solidFill>
                  <a:srgbClr val="374151"/>
                </a:solidFill>
                <a:latin typeface="Arial"/>
              </a:rPr>
              <a:t>Eliminating direct answer dumping (0% leakage) prevents cognitive surrender and ensures secondary students actively synthesize scientific principles rather than passively copying solutions.</a:t>
            </a:r>
          </a:p>
          <a:p>
            <a:pPr>
              <a:spcAft>
                <a:spcPts val="200"/>
              </a:spcAft>
            </a:pPr>
            <a:r>
              <a:rPr b="1" sz="1100">
                <a:solidFill>
                  <a:srgbClr val="003366"/>
                </a:solidFill>
                <a:latin typeface="Arial"/>
              </a:rPr>
              <a:t>•  Teacher Empowerment &amp; Classroom Interventions: </a:t>
            </a:r>
            <a:r>
              <a:rPr sz="1019">
                <a:solidFill>
                  <a:srgbClr val="374151"/>
                </a:solidFill>
                <a:latin typeface="Arial"/>
              </a:rPr>
              <a:t>Converts conversational turns into concept-level mastery heatmaps and automated 3-turn confusion alerts, enabling overburdened educators to prioritize targeted small-group classroom support.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1520" y="2221992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Conclusion &amp; Future Research Roadmap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22585680"/>
            <a:ext cx="111556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374151"/>
                </a:solidFill>
                <a:latin typeface="Arial"/>
              </a:defRPr>
            </a:pPr>
            <a:r>
              <a:t>Dissertation Conclusion: Clariq validates that fine-tuning open-weight models (Qwen2.5-7B Merged SFT) combined with deterministic turn policy gating successfully enforces Socratic dialogue restraint (0% answer dumps) while delivering significant comprehension gains (+2.80) and 34.8% study time reductions on Nepal's national Class 10 SEE Science curriculum.</a:t>
            </a:r>
          </a:p>
          <a:p>
            <a:pPr>
              <a:defRPr sz="1019">
                <a:solidFill>
                  <a:srgbClr val="003366"/>
                </a:solidFill>
                <a:latin typeface="Arial"/>
              </a:defRPr>
            </a:pPr>
            <a:r>
              <a:t>Strategic Future Work (4 Pillars):</a:t>
            </a:r>
            <a:br/>
            <a:r>
              <a:t>•  1. Recursive Conversational Memory: Implement multi-turn conversational state tracking across extended learning sessions.</a:t>
            </a:r>
            <a:br/>
            <a:r>
              <a:t>•  2. Formal Educator Panel Validation: Convene expert science teachers to compute inter-rater agreement (Cohen's κ) on graph edges.</a:t>
            </a:r>
            <a:br/>
            <a:r>
              <a:t>•  3. Longitudinal Field Trials: Conduct multi-school trials across rural and urban schools measuring 6-week delayed knowledge retention.</a:t>
            </a:r>
            <a:br/>
            <a:r>
              <a:t>•  4. Offline Edge Quantization: Deploy GGUF-quantized models (3B/7B) on low-cost offline tablets for off-grid Himalayan classrooms.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24323040"/>
            <a:ext cx="11155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" y="24688800"/>
            <a:ext cx="11155680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Bastani, H. et al. (2025) 'Generative AI can harm learning: Evidence from high school classrooms'.</a:t>
            </a:r>
          </a:p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Bloom, B. S. (1984) 'The 2 sigma problem: The search for methods of group instruction as effective as one-to-one tutoring', Educational Researcher, 13(6), pp. 4–16.</a:t>
            </a:r>
          </a:p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Curriculum Development Centre (CDC Nepal, 2024) Class 10 Science and Technology Textbook, Ministry of Education, Sanothimi, Bhaktapur.</a:t>
            </a:r>
          </a:p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Lewis, P. et al. (2020) 'Retrieval-Augmented Generation for Knowledge-Intensive NLP Tasks', Advances in Neural Information Processing Systems (NeurIPS 2020).</a:t>
            </a:r>
          </a:p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Ministry of Education, Science and Technology (MoEST, 2024) Secondary Education Examination (SEE) Results 2080-81, Sanothimi, Bhaktapur, Nepal.</a:t>
            </a:r>
          </a:p>
          <a:p>
            <a:pPr>
              <a:spcAft>
                <a:spcPts val="200"/>
              </a:spcAft>
              <a:defRPr sz="950">
                <a:solidFill>
                  <a:srgbClr val="6B7280"/>
                </a:solidFill>
                <a:latin typeface="Arial"/>
              </a:defRPr>
            </a:pPr>
            <a:r>
              <a:t>•  Peffers, K. et al. (2007) 'A design science research methodology for information systems research', Journal of Management Information Systems, 24(3), pp. 45–77.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207240" y="20619720"/>
            <a:ext cx="8439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Pedagogical Features &amp; Accessibility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207240" y="20985480"/>
            <a:ext cx="8439912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19">
                <a:solidFill>
                  <a:srgbClr val="374151"/>
                </a:solidFill>
                <a:latin typeface="Arial"/>
              </a:defRPr>
            </a:pPr>
            <a:r>
              <a:t>•  Socratic Scaffolding Chips: Interactive UI chips ('Give me a hint', 'Is my reasoning right?', 'What is the next step?') give learners cognitive autonomy without revealing answers.</a:t>
            </a:r>
            <a:br/>
            <a:r>
              <a:t>•  Teacher Struggle Alerts: Automated detection of 3 consecutive low-scoring turns triggers diagnostic flags for educators.</a:t>
            </a:r>
            <a:br/>
            <a:r>
              <a:t>•  Low-Bandwidth Mobile Optimization: Ultra-lightweight JSON response payloads (&lt;500 bytes per turn) and client-side caching ensure smooth operation over patchy 2G/3G mobile data connections in rural hill districts.</a:t>
            </a:r>
            <a:br/>
            <a:r>
              <a:t>•  Offline Village Edge Roadmap: Architecture designed for 4-bit GGUF quantization deployed on local community school desktop PCs and solar-powered tablets, delivering full Socratic tutoring without requiring active internet connectivity.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207240" y="22997160"/>
            <a:ext cx="84399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Arial"/>
              </a:defRPr>
            </a:pPr>
            <a:r>
              <a:t>Scope, Study Limitations &amp; Ethics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207240" y="23362920"/>
            <a:ext cx="8439912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19">
                <a:solidFill>
                  <a:srgbClr val="374151"/>
                </a:solidFill>
                <a:latin typeface="Arial"/>
              </a:defRPr>
            </a:pPr>
            <a:r>
              <a:t>Scope Boundaries &amp; Delimitations:</a:t>
            </a:r>
            <a:br/>
            <a:r>
              <a:t>•  In-Scope: Class 10 Physics, Chemistry, Biology (CDC Nepal); typed Socratic chat; 135-node KG; web &amp; mobile clients.</a:t>
            </a:r>
            <a:br/>
            <a:r>
              <a:t>•  Out-of-Scope: Grades 1–9 / 11–12; speech/voice synthesis; Devanagari script; high-stakes summative grading.</a:t>
            </a:r>
            <a:br/>
            <a:br/>
            <a:r>
              <a:t>Study Limitations:</a:t>
            </a:r>
            <a:br/>
            <a:r>
              <a:t>•  Immediate post-test measures short-term conceptual acquisition rather than long-term delayed retention.</a:t>
            </a:r>
            <a:br/>
            <a:r>
              <a:t>•  Pilot cohort of N=20 evaluated on a single chemistry unit (Acids &amp; Bases); broader cross-subject trials are needed.</a:t>
            </a:r>
            <a:br/>
            <a:r>
              <a:t>•  Token-overlap scoring serves as a computationally efficient proxy for understanding, but does not capture deep semantic nuance.</a:t>
            </a:r>
            <a:br/>
            <a:br/>
            <a:r>
              <a:t>Research Ethics &amp; Governance:</a:t>
            </a:r>
            <a:br/>
            <a:r>
              <a:t>•  Protection of Minors: Voluntary student assent, parental awareness, full pseudonymisation (P01–P20), and zero personal identifiable information (PII) stored.</a:t>
            </a:r>
            <a:br/>
            <a:r>
              <a:t>•  Legal Compliance: Official CDC textbooks utilized under educational research fair dealing provisions of Nepal Copyright Act 2059 (Sec 16 &amp; 18) and UK CDPA 1988.</a:t>
            </a:r>
            <a:br/>
            <a:r>
              <a:t>•  Professional Standards: Strict adherence to BCS Code of Conduct and ACM Code of Ethics.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