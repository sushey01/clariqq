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158" cy="302757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158" cy="2194560"/>
          </a:xfrm>
          <a:prstGeom prst="rect">
            <a:avLst/>
          </a:prstGeom>
          <a:solidFill>
            <a:srgbClr val="102D24"/>
          </a:solidFill>
          <a:ln>
            <a:solidFill>
              <a:srgbClr val="102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"/>
            <a:ext cx="4987853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228600"/>
            <a:ext cx="11430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Clariq</a:t>
            </a:r>
          </a:p>
          <a:p>
            <a:pPr>
              <a:spcBef>
                <a:spcPts val="300"/>
              </a:spcBef>
              <a:defRPr sz="2100" b="1">
                <a:solidFill>
                  <a:srgbClr val="BAE6FD"/>
                </a:solidFill>
                <a:latin typeface="Arial"/>
              </a:defRPr>
            </a:pPr>
            <a:r>
              <a:t>AI-Powered Socratic Science Tutor with Adaptive Knowledge Tracking</a:t>
            </a:r>
          </a:p>
          <a:p>
            <a:pPr>
              <a:spcBef>
                <a:spcPts val="200"/>
              </a:spcBef>
              <a:defRPr sz="1400">
                <a:solidFill>
                  <a:srgbClr val="E0F2FE"/>
                </a:solidFill>
                <a:latin typeface="Arial"/>
              </a:defRPr>
            </a:pPr>
            <a:r>
              <a:t>For Nepal's Secondary Education Examination (SEE, Class 10 Science)  •  Physics, Chemistry &amp; 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0" y="256032"/>
            <a:ext cx="437083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Arial"/>
              </a:defRPr>
            </a:pPr>
            <a:r>
              <a:t>SUNWAY COLLEGE</a:t>
            </a:r>
          </a:p>
          <a:p>
            <a:pPr algn="r">
              <a:defRPr sz="1400" b="1">
                <a:solidFill>
                  <a:srgbClr val="F59E0B"/>
                </a:solidFill>
                <a:latin typeface="Arial"/>
              </a:defRPr>
            </a:pPr>
            <a:r>
              <a:t>KATHMANDU, NEPAL</a:t>
            </a:r>
          </a:p>
          <a:p>
            <a:pPr algn="r">
              <a:spcBef>
                <a:spcPts val="5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BIRMINGHAM CITY</a:t>
            </a:r>
            <a:br/>
            <a:r>
              <a:t>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95728"/>
            <a:ext cx="11521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111827"/>
                </a:solidFill>
                <a:latin typeface="Arial"/>
              </a:defRPr>
            </a:pPr>
            <a:r>
              <a:t>Shekhar Lamichhane Magar | Student ID: 23189647 | CMP6200 Individual Honours Project</a:t>
            </a:r>
          </a:p>
          <a:p>
            <a:pPr>
              <a:spcBef>
                <a:spcPts val="300"/>
              </a:spcBef>
              <a:defRPr sz="1400">
                <a:solidFill>
                  <a:srgbClr val="374151"/>
                </a:solidFill>
                <a:latin typeface="Arial"/>
              </a:defRPr>
            </a:pPr>
            <a:r>
              <a:t>Project Supervisor: Rupak Koirala  •  Department of Computer and Data Science  •  October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435840" y="2304288"/>
            <a:ext cx="8211312" cy="1078992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73000" y="2359152"/>
            <a:ext cx="7936992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Arial"/>
              </a:defRPr>
            </a:pPr>
            <a:r>
              <a:t>Standout Novelty &amp; Core Contribution</a:t>
            </a:r>
          </a:p>
          <a:p>
            <a:pPr>
              <a:spcBef>
                <a:spcPts val="2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First curriculum-grounded Socratic tutor for Nepal's Class 10 SEE with strict turn gating (0% answer leaks vs 88% GPT-4o), 135-node adaptive knowledge graph, real-time confusion telemetry, and responsive web/mobile clients.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Arial"/>
              </a:defRPr>
            </a:pPr>
            <a:r>
              <a:t>Problem &amp; Background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74066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250">
                <a:solidFill>
                  <a:srgbClr val="003366"/>
                </a:solidFill>
                <a:latin typeface="Arial"/>
              </a:rPr>
              <a:t>•  National Failure Crisis: </a:t>
            </a:r>
            <a:r>
              <a:rPr sz="1200">
                <a:solidFill>
                  <a:srgbClr val="374151"/>
                </a:solidFill>
                <a:latin typeface="Arial"/>
              </a:rPr>
              <a:t>In the 2080-81 Secondary Education Examination (SEE), 79,271 students (15.42%) were marked Non-Graded (NG) in Science &amp; Technology—the highest academic deficit subject (MoEST, 2024).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003366"/>
                </a:solidFill>
                <a:latin typeface="Arial"/>
              </a:rPr>
              <a:t>•  The AI 'Cognitive Crutch' Hazard: </a:t>
            </a:r>
            <a:r>
              <a:rPr sz="1200">
                <a:solidFill>
                  <a:srgbClr val="374151"/>
                </a:solidFill>
                <a:latin typeface="Arial"/>
              </a:rPr>
              <a:t>Commercial chatbots (GPT-4o) act as unearned answer dispensers (88% answer dumps), short-circuiting metacognition and inducing cognitive atrophy (Bastani et al., 2025).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003366"/>
                </a:solidFill>
                <a:latin typeface="Arial"/>
              </a:rPr>
              <a:t>•  Socio-Economic Divide: </a:t>
            </a:r>
            <a:r>
              <a:rPr sz="1200">
                <a:solidFill>
                  <a:srgbClr val="374151"/>
                </a:solidFill>
                <a:latin typeface="Arial"/>
              </a:rPr>
              <a:t>Private tutoring centers cost NPR 2,000–5,000/mo ($15–$40), which is unaffordable for rural families. Public schools face severe 50+:1 pupil-teacher ratios, precluding 1-on-1 scaffolding.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Arial"/>
              </a:defRPr>
            </a:pPr>
            <a:r>
              <a:t>Identified Research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374151"/>
                </a:solidFill>
                <a:latin typeface="Arial"/>
              </a:defRPr>
            </a:pPr>
            <a:r>
              <a:t>Existing educational AI tools either act as didactic answer dispensers without national curriculum grounding, or rely on rigid rule-based ITS without conversational fluidity. No prior work provides open-weight Socratic dialogue models governed by deterministic turn gating combined with dynamic concept mastery tracking for South Asian national secondary curricula.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178040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Arial"/>
              </a:defRPr>
            </a:pPr>
            <a:r>
              <a:t>Aim, Objectives &amp; Research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589520"/>
            <a:ext cx="74066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11827"/>
                </a:solidFill>
                <a:latin typeface="Arial"/>
              </a:defRPr>
            </a:pPr>
            <a:r>
              <a:t>Research Aim: To design, implement, and empirically pilot Clariq—an AI-powered Socratic science tutor delivering curriculum-grounded dialogue, dynamically tracking mastery across a 135-node Knowledge Graph, and evaluating its pedagogical feasibility against textbook self-study.</a:t>
            </a:r>
          </a:p>
          <a:p>
            <a:pPr>
              <a:spcAft>
                <a:spcPts val="400"/>
              </a:spcAft>
              <a:defRPr sz="1150" b="1">
                <a:solidFill>
                  <a:srgbClr val="003366"/>
                </a:solidFill>
                <a:latin typeface="Arial"/>
              </a:defRPr>
            </a:pPr>
            <a:r>
              <a:t>• RQ1 (Dialogue Restraint): Can open-weight LLMs, constrained by turn policies and RAG, sustain multi-turn inquiry without leaking direct answers?</a:t>
            </a:r>
            <a:br/>
            <a:r>
              <a:t>• RQ2 (Mastery Telemetry): Can conversational turns yield reliable concept mastery telemetry across an adaptive knowledge graph to flag struggling students?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  <a:latin typeface="Arial"/>
              </a:defRPr>
            </a:pPr>
            <a:r>
              <a:t>•  1. Ingest official CDC Class 10 science textbooks into Chroma vector DB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  <a:latin typeface="Arial"/>
              </a:defRPr>
            </a:pPr>
            <a:r>
              <a:t>•  2. Implement hybrid RAG with lexical candidate reranking (P@3 &gt;= 0.85)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  <a:latin typeface="Arial"/>
              </a:defRPr>
            </a:pPr>
            <a:r>
              <a:t>•  3. Enforce 5-stage turn policy (turn_policy.py) to suppress answer leakage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  <a:latin typeface="Arial"/>
              </a:defRPr>
            </a:pPr>
            <a:r>
              <a:t>•  4. Fine-tune open-weight Socratic dialogue model on dual T4 GPUs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  <a:latin typeface="Arial"/>
              </a:defRPr>
            </a:pPr>
            <a:r>
              <a:t>•  5. Eliminate script collapse via weight merging (Qwen2.5-7B Merged SFT)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  <a:latin typeface="Arial"/>
              </a:defRPr>
            </a:pPr>
            <a:r>
              <a:t>•  6. Construct 135-node directed knowledge graph across Physics, Chem, Bio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  <a:latin typeface="Arial"/>
              </a:defRPr>
            </a:pPr>
            <a:r>
              <a:t>•  7. Formulate token-overlap scoring with coherence and rote-copy penalties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  <a:latin typeface="Arial"/>
              </a:defRPr>
            </a:pPr>
            <a:r>
              <a:t>•  8. Implement Exponential Moving Average (EWMA) mastery updating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  <a:latin typeface="Arial"/>
              </a:defRPr>
            </a:pPr>
            <a:r>
              <a:t>•  9. Build automated 3-turn persistent confusion diagnostic alerts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  <a:latin typeface="Arial"/>
              </a:defRPr>
            </a:pPr>
            <a:r>
              <a:t>•  10. Conduct controlled empirical pilot study (N=20) against textbook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566160"/>
            <a:ext cx="120975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Arial"/>
              </a:defRPr>
            </a:pPr>
            <a:r>
              <a:t>Research Methodology &amp; System Frameworks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977639"/>
            <a:ext cx="3886200" cy="105156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9367" y="4069079"/>
            <a:ext cx="366674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1  Research Approach</a:t>
            </a:r>
          </a:p>
          <a:p>
            <a:pPr>
              <a:spcBef>
                <a:spcPts val="2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Design Science Research (DSR; Peffers et al., 2007): 6-stage iterative cycle to design, build, test, and evaluate the artifact.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55296" y="3977639"/>
            <a:ext cx="3886200" cy="105156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65024" y="4069079"/>
            <a:ext cx="366674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2  Ingestion &amp; Hybrid RAG</a:t>
            </a:r>
          </a:p>
          <a:p>
            <a:pPr>
              <a:spcBef>
                <a:spcPts val="2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17 digital CDC volumes, OCR filter, regex boilerplate cleaning, 768d nomic-embed-text vectors in Chroma DB + lexical reranking.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760951" y="3977639"/>
            <a:ext cx="3886200" cy="105156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870680" y="4069079"/>
            <a:ext cx="366674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3  Socratic Turn Policy</a:t>
            </a:r>
          </a:p>
          <a:p>
            <a:pPr>
              <a:spcBef>
                <a:spcPts val="2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turn_policy.py: intent routing, terminal '?' gating, definitional assertion interception, and scaffolding counter-question override.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5175503"/>
            <a:ext cx="3886200" cy="105156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9367" y="5266943"/>
            <a:ext cx="366674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4  Tutor LLM Fine-Tuning</a:t>
            </a:r>
          </a:p>
          <a:p>
            <a:pPr>
              <a:spcBef>
                <a:spcPts val="2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Qwen2.5-7B SFT LoRA on 606 dialogues (4,628 turns); merged weights via merge_and_unload deployed on RunPod Serverless vLLM.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55296" y="5175503"/>
            <a:ext cx="3886200" cy="105156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65024" y="5266943"/>
            <a:ext cx="366674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5  Adaptive Knowledge Graph</a:t>
            </a:r>
          </a:p>
          <a:p>
            <a:pPr>
              <a:spcBef>
                <a:spcPts val="2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135 concept nodes, 99 prerequisite edges, token-overlap scoring with coherence penalty, and EWMA mastery tracking (α = 0.25).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760951" y="5175503"/>
            <a:ext cx="3886200" cy="105156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870680" y="5266943"/>
            <a:ext cx="366674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6  Client Ecosystem</a:t>
            </a:r>
          </a:p>
          <a:p>
            <a:pPr>
              <a:spcBef>
                <a:spcPts val="2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React 18 / Vite Nebular UI desktop tutoring bench, Teacher Diagnostic Desk for class-wide heatmaps, and Expo React Native mobile app.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6400800"/>
            <a:ext cx="120975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Arial"/>
              </a:defRPr>
            </a:pPr>
            <a:r>
              <a:t>Clariq Six-Layer System Architecture &amp; Interaction Workflow</a:t>
            </a:r>
          </a:p>
        </p:txBody>
      </p:sp>
      <p:pic>
        <p:nvPicPr>
          <p:cNvPr id="29" name="Picture 28" descr="fig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858000"/>
            <a:ext cx="12097512" cy="825797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31520" y="10835640"/>
            <a:ext cx="12070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10927080"/>
            <a:ext cx="11612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Arial"/>
              </a:defRPr>
            </a:pPr>
            <a:r>
              <a:t>SEE Science Curriculum Concept Nodes (135 Nodes Across 3 Branches)</a:t>
            </a:r>
          </a:p>
          <a:p>
            <a:pPr>
              <a:spcBef>
                <a:spcPts val="3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Physics (45 Nodes): Force, Gravity, Pressure, Energy, Heat, Light, Current Electricity, Magnetism</a:t>
            </a:r>
            <a:br/>
            <a:r>
              <a:t>•  Chemistry (50 Nodes): Periodic Table, Chemical Reactions, Acid-Base-Salt, Metals, Hydrocarbons &amp; Derivatives</a:t>
            </a:r>
            <a:br/>
            <a:r>
              <a:t>•  Biology (40 Nodes): Cell Reproduction, Heredity, Nervous System, Blood Circulation, Ecosystems &amp; Balance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Curriculum Ingestion Hygiene: 17 official CDC textbooks cleaned with boilerplate regex stripping (&gt;15% page recurrence), 1200-char chunking with 200-char overlap, nomic-embed-text (768d) vectors indexed in Chroma DB.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021056" y="10835640"/>
            <a:ext cx="7626096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13080" y="10927080"/>
            <a:ext cx="726033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Arial"/>
              </a:defRPr>
            </a:pPr>
            <a:r>
              <a:t>Socratic Dataset &amp; Experimental Tech Stack</a:t>
            </a:r>
          </a:p>
          <a:p>
            <a:pPr>
              <a:spcBef>
                <a:spcPts val="300"/>
              </a:spcBef>
              <a:defRPr sz="1150">
                <a:solidFill>
                  <a:srgbClr val="374151"/>
                </a:solidFill>
                <a:latin typeface="Arial"/>
              </a:defRPr>
            </a:pPr>
            <a:r>
              <a:t>•  Training Corpus: 606 curated dialogues (4,628 turns) covering Direct Conceptual, Misconceptions, Stuck/Confused, Topic Switches, and Ambiguous Probes.</a:t>
            </a:r>
            <a:br/>
            <a:r>
              <a:t>•  AI &amp; LLM Stack: Qwen2.5-7B-Instruct, PyTorch, Hugging Face PEFT, vLLM PagedAttention on RunPod Serverless GPU.</a:t>
            </a:r>
            <a:br/>
            <a:r>
              <a:t>•  App Stack: FastAPI, Chroma DB, React 18, Vite, Tailwind CSS, Expo (React Native).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12984480"/>
            <a:ext cx="1992111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Arial"/>
              </a:defRPr>
            </a:pPr>
            <a:r>
              <a:t>Client Ecosystem &amp; Visual User Interface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13487400"/>
            <a:ext cx="26974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13560552"/>
            <a:ext cx="2551176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rial"/>
              </a:defRPr>
            </a:pPr>
            <a:r>
              <a:t>Navigation &amp;</a:t>
            </a:r>
            <a:br/>
            <a:r>
              <a:t>Landing Portal</a:t>
            </a:r>
          </a:p>
        </p:txBody>
      </p:sp>
      <p:pic>
        <p:nvPicPr>
          <p:cNvPr id="37" name="Picture 36" descr="fig_ui_la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4218920"/>
            <a:ext cx="2478024" cy="1280151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593592" y="13487400"/>
            <a:ext cx="26974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66744" y="13560552"/>
            <a:ext cx="2551176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rial"/>
              </a:defRPr>
            </a:pPr>
            <a:r>
              <a:t>Authentication &amp;</a:t>
            </a:r>
            <a:br/>
            <a:r>
              <a:t>Onboarding</a:t>
            </a:r>
          </a:p>
        </p:txBody>
      </p:sp>
      <p:pic>
        <p:nvPicPr>
          <p:cNvPr id="40" name="Picture 39" descr="fig_ui_log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4218920"/>
            <a:ext cx="2478024" cy="1280151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6455664" y="13487400"/>
            <a:ext cx="26974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13560552"/>
            <a:ext cx="2551176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rial"/>
              </a:defRPr>
            </a:pPr>
            <a:r>
              <a:t>Socratic Tutoring</a:t>
            </a:r>
            <a:br/>
            <a:r>
              <a:t>Bench (React 18)</a:t>
            </a:r>
          </a:p>
        </p:txBody>
      </p:sp>
      <p:pic>
        <p:nvPicPr>
          <p:cNvPr id="43" name="Picture 42" descr="fig_ui_chat_desk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14218920"/>
            <a:ext cx="2478024" cy="1277731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317736" y="13487400"/>
            <a:ext cx="26974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90888" y="13560552"/>
            <a:ext cx="2551176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rial"/>
              </a:defRPr>
            </a:pPr>
            <a:r>
              <a:t>Scaffolding</a:t>
            </a:r>
            <a:br/>
            <a:r>
              <a:t>Dialogue Exchange</a:t>
            </a:r>
          </a:p>
        </p:txBody>
      </p:sp>
      <p:pic>
        <p:nvPicPr>
          <p:cNvPr id="46" name="Picture 45" descr="fig_socratic_exch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7464" y="14218920"/>
            <a:ext cx="2478024" cy="1892935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2179808" y="13487400"/>
            <a:ext cx="26974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252960" y="13560552"/>
            <a:ext cx="2551176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rial"/>
              </a:defRPr>
            </a:pPr>
            <a:r>
              <a:t>Teacher Desk</a:t>
            </a:r>
            <a:br/>
            <a:r>
              <a:t>Diagnostic Analytics</a:t>
            </a:r>
          </a:p>
        </p:txBody>
      </p:sp>
      <p:pic>
        <p:nvPicPr>
          <p:cNvPr id="49" name="Picture 48" descr="fig_ui_teacher_de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89536" y="14218920"/>
            <a:ext cx="2478024" cy="1280151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15041880" y="13487400"/>
            <a:ext cx="26974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115032" y="13560552"/>
            <a:ext cx="2551176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rial"/>
              </a:defRPr>
            </a:pPr>
            <a:r>
              <a:t>Mastery Telemetry</a:t>
            </a:r>
            <a:br/>
            <a:r>
              <a:t>Progress Curves</a:t>
            </a:r>
          </a:p>
        </p:txBody>
      </p:sp>
      <p:pic>
        <p:nvPicPr>
          <p:cNvPr id="52" name="Picture 51" descr="fig_student_progres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51608" y="14218920"/>
            <a:ext cx="2478024" cy="1892935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17903952" y="13487400"/>
            <a:ext cx="26974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977104" y="13560552"/>
            <a:ext cx="2551176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>
                <a:solidFill>
                  <a:srgbClr val="111827"/>
                </a:solidFill>
                <a:latin typeface="Arial"/>
              </a:defRPr>
            </a:pPr>
            <a:r>
              <a:t>Expo Mobile</a:t>
            </a:r>
            <a:br/>
            <a:r>
              <a:t>Client (React Native)</a:t>
            </a:r>
          </a:p>
        </p:txBody>
      </p:sp>
      <p:pic>
        <p:nvPicPr>
          <p:cNvPr id="55" name="Picture 54" descr="fig_ui_mobile_ap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13680" y="14218920"/>
            <a:ext cx="2478024" cy="527029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31520" y="17785080"/>
            <a:ext cx="1992111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Arial"/>
              </a:defRPr>
            </a:pPr>
            <a:r>
              <a:t>Key Empirical Results, Findings &amp; Baseline Model Comparison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18269712"/>
            <a:ext cx="26974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18361152"/>
            <a:ext cx="2514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Arial"/>
              </a:defRPr>
            </a:pPr>
            <a:r>
              <a:t>0.873</a:t>
            </a:r>
          </a:p>
          <a:p>
            <a:pPr algn="ctr">
              <a:spcBef>
                <a:spcPts val="3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Curriculum RAG</a:t>
            </a:r>
            <a:br/>
            <a:r>
              <a:t>Precision@3</a:t>
            </a:r>
          </a:p>
          <a:p>
            <a:pPr algn="ctr">
              <a:spcBef>
                <a:spcPts val="200"/>
              </a:spcBef>
              <a:defRPr sz="950">
                <a:solidFill>
                  <a:srgbClr val="6B7280"/>
                </a:solidFill>
                <a:latin typeface="Arial"/>
              </a:defRPr>
            </a:pPr>
            <a:r>
              <a:t>Target: &gt;= 0.85 (MET)</a:t>
            </a:r>
            <a:br/>
            <a:r>
              <a:t>+11.3% over raw cosine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593592" y="18269712"/>
            <a:ext cx="26974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85032" y="18361152"/>
            <a:ext cx="2514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Arial"/>
              </a:defRPr>
            </a:pPr>
            <a:r>
              <a:t>0%</a:t>
            </a:r>
          </a:p>
          <a:p>
            <a:pPr algn="ctr">
              <a:spcBef>
                <a:spcPts val="3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Direct Answer</a:t>
            </a:r>
            <a:br/>
            <a:r>
              <a:t>Dumps (Leakage)</a:t>
            </a:r>
          </a:p>
          <a:p>
            <a:pPr algn="ctr">
              <a:spcBef>
                <a:spcPts val="200"/>
              </a:spcBef>
              <a:defRPr sz="950">
                <a:solidFill>
                  <a:srgbClr val="6B7280"/>
                </a:solidFill>
                <a:latin typeface="Arial"/>
              </a:defRPr>
            </a:pPr>
            <a:r>
              <a:t>Baseline: 88% GPT-4o</a:t>
            </a:r>
            <a:br/>
            <a:r>
              <a:t>Complete answer restraint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55664" y="18269712"/>
            <a:ext cx="26974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47104" y="18361152"/>
            <a:ext cx="2514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Arial"/>
              </a:defRPr>
            </a:pPr>
            <a:r>
              <a:t>100%</a:t>
            </a:r>
          </a:p>
          <a:p>
            <a:pPr algn="ctr">
              <a:spcBef>
                <a:spcPts val="3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Guiding Questions</a:t>
            </a:r>
            <a:br/>
            <a:r>
              <a:t>('?') Post-Policy</a:t>
            </a:r>
          </a:p>
          <a:p>
            <a:pPr algn="ctr">
              <a:spcBef>
                <a:spcPts val="200"/>
              </a:spcBef>
              <a:defRPr sz="950">
                <a:solidFill>
                  <a:srgbClr val="6B7280"/>
                </a:solidFill>
                <a:latin typeface="Arial"/>
              </a:defRPr>
            </a:pPr>
            <a:r>
              <a:t>Baseline: 22% GPT-4o</a:t>
            </a:r>
            <a:br/>
            <a:r>
              <a:t>Strict Socratic guidance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17736" y="18269712"/>
            <a:ext cx="26974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09176" y="18361152"/>
            <a:ext cx="2514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Arial"/>
              </a:defRPr>
            </a:pPr>
            <a:r>
              <a:t>0</a:t>
            </a:r>
          </a:p>
          <a:p>
            <a:pPr algn="ctr">
              <a:spcBef>
                <a:spcPts val="3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Script Collapse</a:t>
            </a:r>
            <a:br/>
            <a:r>
              <a:t>Flags (Memorization)</a:t>
            </a:r>
          </a:p>
          <a:p>
            <a:pPr algn="ctr">
              <a:spcBef>
                <a:spcPts val="200"/>
              </a:spcBef>
              <a:defRPr sz="950">
                <a:solidFill>
                  <a:srgbClr val="6B7280"/>
                </a:solidFill>
                <a:latin typeface="Arial"/>
              </a:defRPr>
            </a:pPr>
            <a:r>
              <a:t>Baseline: 14 in 4B Raw</a:t>
            </a:r>
            <a:br/>
            <a:r>
              <a:t>Resolved via 7B SFT merge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179808" y="18269712"/>
            <a:ext cx="26974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271248" y="18361152"/>
            <a:ext cx="2514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Arial"/>
              </a:defRPr>
            </a:pPr>
            <a:r>
              <a:t>3.31 s</a:t>
            </a:r>
          </a:p>
          <a:p>
            <a:pPr algn="ctr">
              <a:spcBef>
                <a:spcPts val="3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Median Warm</a:t>
            </a:r>
            <a:br/>
            <a:r>
              <a:t>Latency (ZeroGPU)</a:t>
            </a:r>
          </a:p>
          <a:p>
            <a:pPr algn="ctr">
              <a:spcBef>
                <a:spcPts val="200"/>
              </a:spcBef>
              <a:defRPr sz="950">
                <a:solidFill>
                  <a:srgbClr val="6B7280"/>
                </a:solidFill>
                <a:latin typeface="Arial"/>
              </a:defRPr>
            </a:pPr>
            <a:r>
              <a:t>Target: &lt;= 5.0s (MET)</a:t>
            </a:r>
            <a:br/>
            <a:r>
              <a:t>RunPod: 6.66s concurrent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5041880" y="18269712"/>
            <a:ext cx="26974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133320" y="18361152"/>
            <a:ext cx="2514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Arial"/>
              </a:defRPr>
            </a:pPr>
            <a:r>
              <a:t>+2.80</a:t>
            </a:r>
          </a:p>
          <a:p>
            <a:pPr algn="ctr">
              <a:spcBef>
                <a:spcPts val="3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Mean Pilot</a:t>
            </a:r>
            <a:br/>
            <a:r>
              <a:t>Learning Gain</a:t>
            </a:r>
          </a:p>
          <a:p>
            <a:pPr algn="ctr">
              <a:spcBef>
                <a:spcPts val="200"/>
              </a:spcBef>
              <a:defRPr sz="950">
                <a:solidFill>
                  <a:srgbClr val="6B7280"/>
                </a:solidFill>
                <a:latin typeface="Arial"/>
              </a:defRPr>
            </a:pPr>
            <a:r>
              <a:t>Baseline: +1.20 Textbook</a:t>
            </a:r>
            <a:br/>
            <a:r>
              <a:t>p = 5.67e-6 (Stat. Sig.)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7903952" y="18269712"/>
            <a:ext cx="26974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995392" y="18361152"/>
            <a:ext cx="2514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Arial"/>
              </a:defRPr>
            </a:pPr>
            <a:r>
              <a:t>88.8 / 100</a:t>
            </a:r>
          </a:p>
          <a:p>
            <a:pPr algn="ctr">
              <a:spcBef>
                <a:spcPts val="300"/>
              </a:spcBef>
              <a:defRPr sz="1200" b="1">
                <a:solidFill>
                  <a:srgbClr val="111827"/>
                </a:solidFill>
                <a:latin typeface="Arial"/>
              </a:defRPr>
            </a:pPr>
            <a:r>
              <a:t>System Usability</a:t>
            </a:r>
            <a:br/>
            <a:r>
              <a:t>Scale (SUS)</a:t>
            </a:r>
          </a:p>
          <a:p>
            <a:pPr algn="ctr">
              <a:spcBef>
                <a:spcPts val="200"/>
              </a:spcBef>
              <a:defRPr sz="950">
                <a:solidFill>
                  <a:srgbClr val="6B7280"/>
                </a:solidFill>
                <a:latin typeface="Arial"/>
              </a:defRPr>
            </a:pPr>
            <a:r>
              <a:t>Target: &gt;= 70.0 (MET)</a:t>
            </a:r>
            <a:br/>
            <a:r>
              <a:t>Adjective: 'Excellent'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20345400"/>
            <a:ext cx="19921118" cy="11430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60120" y="20500848"/>
            <a:ext cx="1280160" cy="804672"/>
          </a:xfrm>
          <a:prstGeom prst="roundRect">
            <a:avLst/>
          </a:prstGeom>
          <a:solidFill>
            <a:srgbClr val="102D24"/>
          </a:solidFill>
          <a:ln w="19050">
            <a:solidFill>
              <a:srgbClr val="102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0120" y="20647152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UAT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23160" y="20436840"/>
            <a:ext cx="180136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rial"/>
              </a:defRPr>
            </a:pPr>
            <a:r>
              <a:t>Controlled Empirical Pilot User Study (N = 20 Class 10 Secondary Students in Nepal, Ages 15–16)</a:t>
            </a:r>
          </a:p>
          <a:p>
            <a:pPr>
              <a:spcBef>
                <a:spcPts val="200"/>
              </a:spcBef>
              <a:defRPr sz="1150">
                <a:solidFill>
                  <a:srgbClr val="374151"/>
                </a:solidFill>
                <a:latin typeface="Arial"/>
              </a:defRPr>
            </a:pPr>
            <a:r>
              <a:t>Randomized between-subjects trial comparing Clariq Socratic AI Tutor (n=10) vs. CDC Textbook Self-Study (n=10) on Chemical Acids, Bases, and Salts. Baseline equivalence confirmed (1.90 vs. 2.00, p = 0.75). Clariq users scored 4.70/5.0 vs. Textbook 3.20/5.0 (t = 5.960, p = 1.25e-5, Cohen's d = 2.666), achieved +2.80 learning gain, studied 34.8% less time (8.35 min vs. 12.80 min, t = -13.93, p &lt; 0.0001), and rated usability at SUS 88.8 / 100.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217627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Arial"/>
              </a:defRPr>
            </a:pPr>
            <a:r>
              <a:t>Practical Implications &amp; Educational Significance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22219920"/>
            <a:ext cx="111556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200">
                <a:solidFill>
                  <a:srgbClr val="003366"/>
                </a:solidFill>
                <a:latin typeface="Arial"/>
              </a:rPr>
              <a:t>•  Bridging the Educational Resource Gap: </a:t>
            </a:r>
            <a:r>
              <a:rPr sz="1150">
                <a:solidFill>
                  <a:srgbClr val="374151"/>
                </a:solidFill>
                <a:latin typeface="Arial"/>
              </a:rPr>
              <a:t>Democratizes personalized 1-on-1 Socratic tutoring for rural community school students who cannot afford commercial private tuition centers ($15–$40/month).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003366"/>
                </a:solidFill>
                <a:latin typeface="Arial"/>
              </a:rPr>
              <a:t>•  Protecting Cognitive Autonomy: </a:t>
            </a:r>
            <a:r>
              <a:rPr sz="1150">
                <a:solidFill>
                  <a:srgbClr val="374151"/>
                </a:solidFill>
                <a:latin typeface="Arial"/>
              </a:rPr>
              <a:t>Eliminating answer dumping (0% leakage) prevents cognitive surrender and ensures that secondary students actively synthesize scientific principles rather than passively copying solutions.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003366"/>
                </a:solidFill>
                <a:latin typeface="Arial"/>
              </a:rPr>
              <a:t>•  Teacher Empowerment: </a:t>
            </a:r>
            <a:r>
              <a:rPr sz="1150">
                <a:solidFill>
                  <a:srgbClr val="374151"/>
                </a:solidFill>
                <a:latin typeface="Arial"/>
              </a:rPr>
              <a:t>Translates continuous conversational turns into concept-level mastery heatmaps and automated confusion alerts, enabling educators to prioritize targeted classroom interventions.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2382012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Arial"/>
              </a:defRPr>
            </a:pPr>
            <a:r>
              <a:t>Conclusion &amp; Future Research Roadmap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24277320"/>
            <a:ext cx="111556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74151"/>
                </a:solidFill>
                <a:latin typeface="Arial"/>
              </a:defRPr>
            </a:pPr>
            <a:r>
              <a:t>Dissertation Conclusion: Clariq validates that fine-tuning open-weight models (Qwen2.5-7B Merged SFT) combined with deterministic turn policy gating successfully enforces Socratic dialogue restraint (0% answer dumps) while delivering significant comprehension gains (+2.80) and 34.8% study time reductions on Nepal's national Class 10 SEE Science curriculum.</a:t>
            </a:r>
          </a:p>
          <a:p>
            <a:pPr>
              <a:defRPr sz="1100">
                <a:solidFill>
                  <a:srgbClr val="003366"/>
                </a:solidFill>
                <a:latin typeface="Arial"/>
              </a:defRPr>
            </a:pPr>
            <a:r>
              <a:t>Strategic Future Work:</a:t>
            </a:r>
            <a:br/>
            <a:r>
              <a:t>•  1. Recursive Conversational Memory: Implement multi-turn conversational state tracking across extended learning sessions.</a:t>
            </a:r>
            <a:br/>
            <a:r>
              <a:t>•  2. Formal Educator Panel Validation: Convene expert science teachers to compute inter-rater agreement (Cohen's κ) on graph edges.</a:t>
            </a:r>
            <a:br/>
            <a:r>
              <a:t>•  3. Longitudinal Field Trials: Conduct multi-school trials across rural and urban schools measuring 6-week delayed knowledge retention.</a:t>
            </a:r>
            <a:br/>
            <a:r>
              <a:t>•  4. Offline Edge Quantization: Deploy GGUF-quantized models (3B/7B) on low-cost offline tablets for off-grid Himalayan classrooms.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264261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26837640"/>
            <a:ext cx="111556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Arial"/>
              </a:defRPr>
            </a:pPr>
            <a:r>
              <a:t>•  Bastani, H. et al. (2025) 'Generative AI can harm learning: Evidence from high school classrooms'.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Arial"/>
              </a:defRPr>
            </a:pPr>
            <a:r>
              <a:t>•  Bloom, B. S. (1984) 'The 2 sigma problem: The search for methods of group instruction as effective as one-to-one tutoring', Educational Researcher, 13(6), pp. 4–16.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Arial"/>
              </a:defRPr>
            </a:pPr>
            <a:r>
              <a:t>•  Curriculum Development Centre (CDC Nepal, 2024) Class 10 Science and Technology Textbook, Ministry of Education, Sanothimi, Bhaktapur.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Arial"/>
              </a:defRPr>
            </a:pPr>
            <a:r>
              <a:t>•  Lewis, P. et al. (2020) 'Retrieval-Augmented Generation for Knowledge-Intensive NLP Tasks', Advances in Neural Information Processing Systems (NeurIPS 2020).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Arial"/>
              </a:defRPr>
            </a:pPr>
            <a:r>
              <a:t>•  Ministry of Education, Science and Technology (MoEST, 2024) Secondary Education Examination (SEE) Results 2080-81, Sanothimi, Bhaktapur, Nepal.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Arial"/>
              </a:defRPr>
            </a:pPr>
            <a:r>
              <a:t>•  Peffers, K. et al. (2007) 'A design science research methodology for information systems research', Journal of Management Information Systems, 24(3), pp. 45–77.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207240" y="21762720"/>
            <a:ext cx="8439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Arial"/>
              </a:defRPr>
            </a:pPr>
            <a:r>
              <a:t>Pedagogical Features &amp; Accessibility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207240" y="22219920"/>
            <a:ext cx="84399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74151"/>
                </a:solidFill>
                <a:latin typeface="Arial"/>
              </a:defRPr>
            </a:pPr>
            <a:r>
              <a:t>•  Socratic Scaffolding Chips: Interactive UI chips ('Give me a hint', 'Is my reasoning right?', 'What is the next step?') give learners cognitive autonomy without revealing answers.</a:t>
            </a:r>
            <a:br/>
            <a:r>
              <a:t>•  Teacher Struggle Alerts: Automated detection of 3 consecutive low-scoring turns triggers diagnostic flags for educators.</a:t>
            </a:r>
            <a:br/>
            <a:r>
              <a:t>•  Low-Bandwidth Optimization: Lightweight JSON response payloads (&lt;500 bytes per turn) and client-side caching ensure responsive performance over 3G/2G rural mobile connections.</a:t>
            </a:r>
            <a:br/>
            <a:r>
              <a:t>•  Multi-Platform Access: Web app (React 18 / Vite) and cross-platform mobile client (Expo / React Native) provide seamless access across smartphones and school computer labs.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207240" y="24414480"/>
            <a:ext cx="8439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11827"/>
                </a:solidFill>
                <a:latin typeface="Arial"/>
              </a:defRPr>
            </a:pPr>
            <a:r>
              <a:t>Scope, Study Limitations &amp; Ethics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207240" y="24871680"/>
            <a:ext cx="8439912" cy="4892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74151"/>
                </a:solidFill>
                <a:latin typeface="Arial"/>
              </a:defRPr>
            </a:pPr>
            <a:r>
              <a:t>Scope Boundaries &amp; Delimitations:</a:t>
            </a:r>
            <a:br/>
            <a:r>
              <a:t>•  In-Scope: Class 10 Physics, Chemistry, Biology (CDC Nepal); typed Socratic chat; 135-node KG; web &amp; mobile clients.</a:t>
            </a:r>
            <a:br/>
            <a:r>
              <a:t>•  Out-of-Scope: Grades 1–9 / 11–12; speech/voice synthesis; Devanagari script; high-stakes summative grading.</a:t>
            </a:r>
            <a:br/>
            <a:br/>
            <a:r>
              <a:t>Study Limitations:</a:t>
            </a:r>
            <a:br/>
            <a:r>
              <a:t>•  Immediate post-test measures short-term conceptual acquisition rather than long-term delayed retention.</a:t>
            </a:r>
            <a:br/>
            <a:r>
              <a:t>•  Pilot cohort of N=20 evaluated on a single chemistry unit (Acids &amp; Bases); broader cross-subject trials are needed.</a:t>
            </a:r>
            <a:br/>
            <a:r>
              <a:t>•  Token-overlap scoring serves as a computationally efficient proxy for understanding, but does not capture deep semantic nuance.</a:t>
            </a:r>
            <a:br/>
            <a:br/>
            <a:r>
              <a:t>Research Ethics &amp; Governance:</a:t>
            </a:r>
            <a:br/>
            <a:r>
              <a:t>•  Protection of Minors: Voluntary student assent, parental awareness, full pseudonymisation (P01–P20), and zero personal identifiable information (PII) stored.</a:t>
            </a:r>
            <a:br/>
            <a:r>
              <a:t>•  Legal Compliance: Official CDC textbooks utilized under educational research fair dealing provisions of Nepal Copyright Act 2059 (Sec 16 &amp; 18) and UK CDPA 1988.</a:t>
            </a:r>
            <a:br/>
            <a:r>
              <a:t>•  Professional Standards: Adherence to BCS Code of Conduct and ACM Code of Ethics.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